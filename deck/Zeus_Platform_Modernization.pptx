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gradFill>
            <a:gsLst>
              <a:gs pos="0">
                <a:srgbClr val="03146E"/>
              </a:gs>
              <a:gs pos="100000">
                <a:srgbClr val="0B0F1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3383280" y="0"/>
            <a:ext cx="2011680" cy="6858000"/>
          </a:xfrm>
          <a:prstGeom prst="rtTriangle">
            <a:avLst/>
          </a:prstGeom>
          <a:gradFill>
            <a:gsLst>
              <a:gs pos="0">
                <a:srgbClr val="022EEB"/>
              </a:gs>
              <a:gs pos="100000">
                <a:srgbClr val="03146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4846320"/>
            <a:ext cx="731520" cy="548640"/>
          </a:xfrm>
          <a:prstGeom prst="bentConnector3">
            <a:avLst/>
          </a:prstGeom>
          <a:ln w="9525">
            <a:solidFill>
              <a:srgbClr val="2A3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2960" y="4846320"/>
            <a:ext cx="1554480" cy="91440"/>
          </a:xfrm>
          <a:prstGeom prst="bentConnector3">
            <a:avLst/>
          </a:prstGeom>
          <a:ln w="9525">
            <a:solidFill>
              <a:srgbClr val="2A3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22960" y="4846320"/>
            <a:ext cx="365760" cy="1005840"/>
          </a:xfrm>
          <a:prstGeom prst="bentConnector3">
            <a:avLst/>
          </a:prstGeom>
          <a:ln w="9525">
            <a:solidFill>
              <a:srgbClr val="2A3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2960" y="4846320"/>
            <a:ext cx="1280160" cy="1097280"/>
          </a:xfrm>
          <a:prstGeom prst="bentConnector3">
            <a:avLst/>
          </a:prstGeom>
          <a:ln w="9525">
            <a:solidFill>
              <a:srgbClr val="2A3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554480" y="4937760"/>
            <a:ext cx="822960" cy="457200"/>
          </a:xfrm>
          <a:prstGeom prst="bentConnector3">
            <a:avLst/>
          </a:prstGeom>
          <a:ln w="9525">
            <a:solidFill>
              <a:srgbClr val="2A3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88720" y="5394960"/>
            <a:ext cx="365760" cy="457200"/>
          </a:xfrm>
          <a:prstGeom prst="bentConnector3">
            <a:avLst/>
          </a:prstGeom>
          <a:ln w="9525">
            <a:solidFill>
              <a:srgbClr val="2A3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54480" y="5394960"/>
            <a:ext cx="548640" cy="548640"/>
          </a:xfrm>
          <a:prstGeom prst="bentConnector3">
            <a:avLst/>
          </a:prstGeom>
          <a:ln w="9525">
            <a:solidFill>
              <a:srgbClr val="2A3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188720" y="4937760"/>
            <a:ext cx="1188720" cy="914400"/>
          </a:xfrm>
          <a:prstGeom prst="bentConnector3">
            <a:avLst/>
          </a:prstGeom>
          <a:ln w="9525">
            <a:solidFill>
              <a:srgbClr val="2A3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103120" y="4937760"/>
            <a:ext cx="274320" cy="1005840"/>
          </a:xfrm>
          <a:prstGeom prst="bentConnector3">
            <a:avLst/>
          </a:prstGeom>
          <a:ln w="9525">
            <a:solidFill>
              <a:srgbClr val="2A3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" y="5852160"/>
            <a:ext cx="914400" cy="91440"/>
          </a:xfrm>
          <a:prstGeom prst="bentConnector3">
            <a:avLst/>
          </a:prstGeom>
          <a:ln w="9525">
            <a:solidFill>
              <a:srgbClr val="2A3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77240" y="4800600"/>
            <a:ext cx="91440" cy="91440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08760" y="5349240"/>
            <a:ext cx="91440" cy="91440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31720" y="4892040"/>
            <a:ext cx="91440" cy="91440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3000" y="5806440"/>
            <a:ext cx="91440" cy="91440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57400" y="5897880"/>
            <a:ext cx="91440" cy="91440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56692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400">
                <a:solidFill>
                  <a:srgbClr val="0B0F1E"/>
                </a:solidFill>
                <a:latin typeface="Space Grotesk"/>
              </a:rPr>
              <a:t>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603504"/>
            <a:ext cx="3657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spc="180">
                <a:solidFill>
                  <a:srgbClr val="FFFFFF"/>
                </a:solidFill>
                <a:latin typeface="Space Grotesk SemiBold"/>
              </a:rPr>
              <a:t>ZEUS CONSULTING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17830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spc="300">
                <a:solidFill>
                  <a:srgbClr val="7AC43D"/>
                </a:solidFill>
                <a:latin typeface="JetBrains Mono Medium"/>
              </a:rPr>
              <a:t>PLATFORM MODERNIZATION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2240280"/>
            <a:ext cx="6492240" cy="1920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>
                <a:solidFill>
                  <a:srgbClr val="FFFFFF"/>
                </a:solidFill>
                <a:latin typeface="Space Grotesk"/>
              </a:rPr>
              <a:t>From one product</a:t>
            </a:r>
          </a:p>
          <a:p>
            <a:pPr algn="l">
              <a:lnSpc>
                <a:spcPct val="100000"/>
              </a:lnSpc>
            </a:pPr>
            <a:r>
              <a:rPr sz="4600">
                <a:solidFill>
                  <a:srgbClr val="FFFFFF"/>
                </a:solidFill>
                <a:latin typeface="Space Grotesk"/>
              </a:rPr>
              <a:t>into a platform.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160520"/>
            <a:ext cx="612648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>
                <a:solidFill>
                  <a:srgbClr val="C2C9DD"/>
                </a:solidFill>
                <a:latin typeface="Inter"/>
              </a:rPr>
              <a:t>A modular, multi-tenant SaaS platform where every service is sold, billed and scaled on its own. Enterprise architecture, engineered to run at zero fixed infrastructure cost.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0" y="5806440"/>
            <a:ext cx="5943600" cy="0"/>
          </a:xfrm>
          <a:prstGeom prst="bentConnector3">
            <a:avLst/>
          </a:prstGeom>
          <a:ln w="12700">
            <a:solidFill>
              <a:srgbClr val="2A33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0" y="594360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spc="220">
                <a:solidFill>
                  <a:srgbClr val="979FB3"/>
                </a:solidFill>
                <a:latin typeface="JetBrains Mono Medium"/>
              </a:rPr>
              <a:t>PREPARED FOR THE 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594360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spc="220">
                <a:solidFill>
                  <a:srgbClr val="979FB3"/>
                </a:solidFill>
                <a:latin typeface="JetBrains Mono Medium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85216"/>
            <a:ext cx="201168" cy="12801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4984" y="548640"/>
            <a:ext cx="8229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260">
                <a:solidFill>
                  <a:srgbClr val="022EEB"/>
                </a:solidFill>
                <a:latin typeface="JetBrains Mono Medium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>
                <a:solidFill>
                  <a:srgbClr val="0B0F1E"/>
                </a:solidFill>
                <a:latin typeface="Space Grotesk"/>
              </a:rPr>
              <a:t>What this proposal covers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21808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8"/>
            <a:ext cx="822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022EEB"/>
                </a:solidFill>
                <a:latin typeface="JetBrains Mono Medium"/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1965960"/>
            <a:ext cx="0" cy="420624"/>
          </a:xfrm>
          <a:prstGeom prst="bentConnector3">
            <a:avLst/>
          </a:prstGeom>
          <a:ln w="12700">
            <a:solidFill>
              <a:srgbClr val="CED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92808" y="1901952"/>
            <a:ext cx="4041648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0B0F1E"/>
                </a:solidFill>
                <a:latin typeface="Inter SemiBold"/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8" y="2212848"/>
            <a:ext cx="4041648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6A7288"/>
                </a:solidFill>
                <a:latin typeface="Inter"/>
              </a:rPr>
              <a:t>The decision in one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783080"/>
            <a:ext cx="5321808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92808"/>
            <a:ext cx="822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022EEB"/>
                </a:solidFill>
                <a:latin typeface="JetBrains Mono Medium"/>
              </a:rPr>
              <a:t>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96912" y="1965960"/>
            <a:ext cx="0" cy="420624"/>
          </a:xfrm>
          <a:prstGeom prst="bentConnector3">
            <a:avLst/>
          </a:prstGeom>
          <a:ln w="12700">
            <a:solidFill>
              <a:srgbClr val="CED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52360" y="1901952"/>
            <a:ext cx="4041648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0B0F1E"/>
                </a:solidFill>
                <a:latin typeface="Inter SemiBold"/>
              </a:rPr>
              <a:t>Where we are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212848"/>
            <a:ext cx="4041648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6A7288"/>
                </a:solidFill>
                <a:latin typeface="Inter"/>
              </a:rPr>
              <a:t>The product and its limits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15768"/>
            <a:ext cx="5321808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25496"/>
            <a:ext cx="822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022EEB"/>
                </a:solidFill>
                <a:latin typeface="JetBrains Mono Medium"/>
              </a:rPr>
              <a:t>03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37360" y="2898648"/>
            <a:ext cx="0" cy="420624"/>
          </a:xfrm>
          <a:prstGeom prst="bentConnector3">
            <a:avLst/>
          </a:prstGeom>
          <a:ln w="12700">
            <a:solidFill>
              <a:srgbClr val="CED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92808" y="2834640"/>
            <a:ext cx="4041648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0B0F1E"/>
                </a:solidFill>
                <a:latin typeface="Inter SemiBold"/>
              </a:rPr>
              <a:t>The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2808" y="3145536"/>
            <a:ext cx="4041648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6A7288"/>
                </a:solidFill>
                <a:latin typeface="Inter"/>
              </a:rPr>
              <a:t>Platform plus independent services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2715768"/>
            <a:ext cx="5321808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825496"/>
            <a:ext cx="822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022EEB"/>
                </a:solidFill>
                <a:latin typeface="JetBrains Mono Medium"/>
              </a:rPr>
              <a:t>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96912" y="2898648"/>
            <a:ext cx="0" cy="420624"/>
          </a:xfrm>
          <a:prstGeom prst="bentConnector3">
            <a:avLst/>
          </a:prstGeom>
          <a:ln w="12700">
            <a:solidFill>
              <a:srgbClr val="CED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52360" y="2834640"/>
            <a:ext cx="4041648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0B0F1E"/>
                </a:solidFill>
                <a:latin typeface="Inter SemiBold"/>
              </a:rPr>
              <a:t>Target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145536"/>
            <a:ext cx="4041648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6A7288"/>
                </a:solidFill>
                <a:latin typeface="Inter"/>
              </a:rPr>
              <a:t>How the system fits together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648456"/>
            <a:ext cx="5321808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758184"/>
            <a:ext cx="822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022EEB"/>
                </a:solidFill>
                <a:latin typeface="JetBrains Mono Medium"/>
              </a:rPr>
              <a:t>05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737360" y="3831336"/>
            <a:ext cx="0" cy="420624"/>
          </a:xfrm>
          <a:prstGeom prst="bentConnector3">
            <a:avLst/>
          </a:prstGeom>
          <a:ln w="12700">
            <a:solidFill>
              <a:srgbClr val="CED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92808" y="3767328"/>
            <a:ext cx="4041648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0B0F1E"/>
                </a:solidFill>
                <a:latin typeface="Inter SemiBold"/>
              </a:rPr>
              <a:t>Revenue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4078224"/>
            <a:ext cx="4041648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6A7288"/>
                </a:solidFill>
                <a:latin typeface="Inter"/>
              </a:rPr>
              <a:t>Selling each service on its own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3648456"/>
            <a:ext cx="5321808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3758184"/>
            <a:ext cx="822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022EEB"/>
                </a:solidFill>
                <a:latin typeface="JetBrains Mono Medium"/>
              </a:rPr>
              <a:t>06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296912" y="3831336"/>
            <a:ext cx="0" cy="420624"/>
          </a:xfrm>
          <a:prstGeom prst="bentConnector3">
            <a:avLst/>
          </a:prstGeom>
          <a:ln w="12700">
            <a:solidFill>
              <a:srgbClr val="CED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52360" y="3767328"/>
            <a:ext cx="4041648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0B0F1E"/>
                </a:solidFill>
                <a:latin typeface="Inter SemiBold"/>
              </a:rPr>
              <a:t>Tenancy and 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4078224"/>
            <a:ext cx="4041648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6A7288"/>
                </a:solidFill>
                <a:latin typeface="Inter"/>
              </a:rPr>
              <a:t>Isolation customers can trust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581144"/>
            <a:ext cx="5321808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690872"/>
            <a:ext cx="822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022EEB"/>
                </a:solidFill>
                <a:latin typeface="JetBrains Mono Medium"/>
              </a:rPr>
              <a:t>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37360" y="4764024"/>
            <a:ext cx="0" cy="420624"/>
          </a:xfrm>
          <a:prstGeom prst="bentConnector3">
            <a:avLst/>
          </a:prstGeom>
          <a:ln w="12700">
            <a:solidFill>
              <a:srgbClr val="CED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92808" y="4700016"/>
            <a:ext cx="4041648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0B0F1E"/>
                </a:solidFill>
                <a:latin typeface="Inter SemiBold"/>
              </a:rPr>
              <a:t>Technology and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92808" y="5010912"/>
            <a:ext cx="4041648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6A7288"/>
                </a:solidFill>
                <a:latin typeface="Inter"/>
              </a:rPr>
              <a:t>Enterprise grade, zero fixed cost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45352" y="4581144"/>
            <a:ext cx="5321808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4690872"/>
            <a:ext cx="822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022EEB"/>
                </a:solidFill>
                <a:latin typeface="JetBrains Mono Medium"/>
              </a:rPr>
              <a:t>08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296912" y="4764024"/>
            <a:ext cx="0" cy="420624"/>
          </a:xfrm>
          <a:prstGeom prst="bentConnector3">
            <a:avLst/>
          </a:prstGeom>
          <a:ln w="12700">
            <a:solidFill>
              <a:srgbClr val="CED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52360" y="4700016"/>
            <a:ext cx="4041648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0B0F1E"/>
                </a:solidFill>
                <a:latin typeface="Inter SemiBold"/>
              </a:rPr>
              <a:t>Control plane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5010912"/>
            <a:ext cx="4041648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6A7288"/>
                </a:solidFill>
                <a:latin typeface="Inter"/>
              </a:rPr>
              <a:t>One dashboard to run it all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5513832"/>
            <a:ext cx="5321808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623560"/>
            <a:ext cx="822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022EEB"/>
                </a:solidFill>
                <a:latin typeface="JetBrains Mono Medium"/>
              </a:rPr>
              <a:t>09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737360" y="5696712"/>
            <a:ext cx="0" cy="420624"/>
          </a:xfrm>
          <a:prstGeom prst="bentConnector3">
            <a:avLst/>
          </a:prstGeom>
          <a:ln w="12700">
            <a:solidFill>
              <a:srgbClr val="CED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892808" y="5632704"/>
            <a:ext cx="4041648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0B0F1E"/>
                </a:solidFill>
                <a:latin typeface="Inter SemiBold"/>
              </a:rPr>
              <a:t>Delivery plan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92808" y="5943600"/>
            <a:ext cx="4041648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6A7288"/>
                </a:solidFill>
                <a:latin typeface="Inter"/>
              </a:rPr>
              <a:t>A phased, low-risk rollout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45352" y="5513832"/>
            <a:ext cx="5321808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3952" y="5623560"/>
            <a:ext cx="822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022EEB"/>
                </a:solidFill>
                <a:latin typeface="JetBrains Mono Medium"/>
              </a:rPr>
              <a:t>10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296912" y="5696712"/>
            <a:ext cx="0" cy="420624"/>
          </a:xfrm>
          <a:prstGeom prst="bentConnector3">
            <a:avLst/>
          </a:prstGeom>
          <a:ln w="12700">
            <a:solidFill>
              <a:srgbClr val="CED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452360" y="5632704"/>
            <a:ext cx="4041648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0B0F1E"/>
                </a:solidFill>
                <a:latin typeface="Inter SemiBold"/>
              </a:rPr>
              <a:t>Go to market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5943600"/>
            <a:ext cx="4041648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6A7288"/>
                </a:solidFill>
                <a:latin typeface="Inter"/>
              </a:rPr>
              <a:t>Ready for paid acquisition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spc="200">
                <a:solidFill>
                  <a:srgbClr val="6A7288"/>
                </a:solidFill>
                <a:latin typeface="JetBrains Mono Medium"/>
              </a:rPr>
              <a:t>ZEUS CONSULTING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9284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spc="120">
                <a:solidFill>
                  <a:srgbClr val="6A7288"/>
                </a:solidFill>
                <a:latin typeface="JetBrains Mono Medium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85216"/>
            <a:ext cx="201168" cy="12801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4984" y="548640"/>
            <a:ext cx="8229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260">
                <a:solidFill>
                  <a:srgbClr val="022EEB"/>
                </a:solidFill>
                <a:latin typeface="JetBrains Mono Medium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>
                <a:solidFill>
                  <a:srgbClr val="0B0F1E"/>
                </a:solidFill>
                <a:latin typeface="Space Grotesk"/>
              </a:rPr>
              <a:t>The decision, in one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600">
                <a:solidFill>
                  <a:srgbClr val="0B0F1E"/>
                </a:solidFill>
                <a:latin typeface="Space Grotesk SemiBold"/>
              </a:rPr>
              <a:t>The product works. The foundation does not scale.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00">
                <a:solidFill>
                  <a:srgbClr val="3C445C"/>
                </a:solidFill>
                <a:latin typeface="Inter"/>
              </a:rPr>
              <a:t>Our grant and compliance product runs on a single, tightly coupled codebase tied to one vendor. It is hard to extend, hard to price flexibly, and it carries a dependency we do not control.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600">
                <a:solidFill>
                  <a:srgbClr val="022EEB"/>
                </a:solidFill>
                <a:latin typeface="Space Grotesk SemiBold"/>
              </a:rPr>
              <a:t>We propose rebuilding it as a platform.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00">
                <a:solidFill>
                  <a:srgbClr val="3C445C"/>
                </a:solidFill>
                <a:latin typeface="Inter"/>
              </a:rPr>
              <a:t>A shared core owns identity, billing and tenants. Each capability becomes an independent service a customer can buy alone. Someone who wants only grant intelligence pays for that, and never touches the rest.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600">
                <a:solidFill>
                  <a:srgbClr val="4F8A1F"/>
                </a:solidFill>
                <a:latin typeface="Space Grotesk SemiBold"/>
              </a:rPr>
              <a:t>The economics are the headline.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300">
                <a:solidFill>
                  <a:srgbClr val="3C445C"/>
                </a:solidFill>
                <a:latin typeface="Inter"/>
              </a:rPr>
              <a:t>The whole platform runs on managed free tiers. The only variable cost is the AI usage itself. No servers to babysit, and it scales cleanly past our first hundred customers.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37360"/>
            <a:ext cx="4617720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52400" dist="50800" dir="5400000" rotWithShape="0">
              <a:srgbClr val="0B0F1E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03720" y="1865376"/>
            <a:ext cx="100584" cy="713232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6328" y="1810512"/>
            <a:ext cx="17373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>
                <a:solidFill>
                  <a:srgbClr val="4F8A1F"/>
                </a:solidFill>
                <a:latin typeface="Space Grotesk"/>
              </a:rP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39" y="1810512"/>
            <a:ext cx="26517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>
                <a:solidFill>
                  <a:srgbClr val="3C445C"/>
                </a:solidFill>
                <a:latin typeface="Inter Medium"/>
              </a:rPr>
              <a:t>fixed infrastructure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816352"/>
            <a:ext cx="4617720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52400" dist="50800" dir="5400000" rotWithShape="0">
              <a:srgbClr val="0B0F1E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2944368"/>
            <a:ext cx="100584" cy="713232"/>
          </a:xfrm>
          <a:prstGeom prst="rect">
            <a:avLst/>
          </a:prstGeom>
          <a:solidFill>
            <a:srgbClr val="022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6328" y="2889504"/>
            <a:ext cx="17373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>
                <a:solidFill>
                  <a:srgbClr val="022EEB"/>
                </a:solidFill>
                <a:latin typeface="Space Grotes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39" y="2889504"/>
            <a:ext cx="26517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>
                <a:solidFill>
                  <a:srgbClr val="3C445C"/>
                </a:solidFill>
                <a:latin typeface="Inter Medium"/>
              </a:rPr>
              <a:t>services, each sold separately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895344"/>
            <a:ext cx="4617720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52400" dist="50800" dir="5400000" rotWithShape="0">
              <a:srgbClr val="0B0F1E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4023360"/>
            <a:ext cx="100584" cy="713232"/>
          </a:xfrm>
          <a:prstGeom prst="rect">
            <a:avLst/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6328" y="3968496"/>
            <a:ext cx="17373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>
                <a:solidFill>
                  <a:srgbClr val="0B0F1E"/>
                </a:solidFill>
                <a:latin typeface="Space Grotesk"/>
              </a:rPr>
              <a:t>100+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39" y="3968496"/>
            <a:ext cx="26517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>
                <a:solidFill>
                  <a:srgbClr val="3C445C"/>
                </a:solidFill>
                <a:latin typeface="Inter Medium"/>
              </a:rPr>
              <a:t>customers supported at launch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974336"/>
            <a:ext cx="4617720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52400" dist="50800" dir="5400000" rotWithShape="0">
              <a:srgbClr val="0B0F1E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5102352"/>
            <a:ext cx="100584" cy="713232"/>
          </a:xfrm>
          <a:prstGeom prst="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6328" y="5047488"/>
            <a:ext cx="17373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>
                <a:solidFill>
                  <a:srgbClr val="9A6A00"/>
                </a:solidFill>
                <a:latin typeface="Space Grotesk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39" y="5047488"/>
            <a:ext cx="26517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>
                <a:solidFill>
                  <a:srgbClr val="3C445C"/>
                </a:solidFill>
                <a:latin typeface="Inter Medium"/>
              </a:rPr>
              <a:t>hard vendor lock-ins left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spc="200">
                <a:solidFill>
                  <a:srgbClr val="6A7288"/>
                </a:solidFill>
                <a:latin typeface="JetBrains Mono Medium"/>
              </a:rPr>
              <a:t>ZEUS CONSULTING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spc="120">
                <a:solidFill>
                  <a:srgbClr val="6A7288"/>
                </a:solidFill>
                <a:latin typeface="JetBrains Mono Medium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85216"/>
            <a:ext cx="201168" cy="12801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4984" y="548640"/>
            <a:ext cx="8229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260">
                <a:solidFill>
                  <a:srgbClr val="022EEB"/>
                </a:solidFill>
                <a:latin typeface="JetBrains Mono Medium"/>
              </a:rPr>
              <a:t>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>
                <a:solidFill>
                  <a:srgbClr val="0B0F1E"/>
                </a:solidFill>
                <a:latin typeface="Space Grotesk"/>
              </a:rPr>
              <a:t>One product, one codebase, one dependency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931920" cy="370332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0B0F1E"/>
              </a:gs>
              <a:gs pos="100000">
                <a:srgbClr val="12182E"/>
              </a:gs>
            </a:gsLst>
            <a:lin ang="6600000" scaled="1"/>
          </a:gradFill>
          <a:ln>
            <a:noFill/>
          </a:ln>
          <a:effectLst>
            <a:outerShdw blurRad="228600" dist="101600" dir="5400000" rotWithShape="0">
              <a:srgbClr val="0B0F1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39696"/>
            <a:ext cx="3566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spc="220">
                <a:solidFill>
                  <a:srgbClr val="7AC43D"/>
                </a:solidFill>
                <a:latin typeface="JetBrains Mono Medium"/>
              </a:rPr>
              <a:t>SINGLE MONOLITH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651760"/>
            <a:ext cx="3383280" cy="347472"/>
          </a:xfrm>
          <a:prstGeom prst="roundRect">
            <a:avLst>
              <a:gd name="adj" fmla="val 25000"/>
            </a:avLst>
          </a:prstGeom>
          <a:solidFill>
            <a:srgbClr val="1B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D5DAE8"/>
                </a:solidFill>
                <a:latin typeface="Inter Medium"/>
              </a:rPr>
              <a:t>Grant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035808"/>
            <a:ext cx="3383280" cy="347472"/>
          </a:xfrm>
          <a:prstGeom prst="roundRect">
            <a:avLst>
              <a:gd name="adj" fmla="val 25000"/>
            </a:avLst>
          </a:prstGeom>
          <a:solidFill>
            <a:srgbClr val="1B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D5DAE8"/>
                </a:solidFill>
                <a:latin typeface="Inter Medium"/>
              </a:rPr>
              <a:t>Contract Compliance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419856"/>
            <a:ext cx="3383280" cy="347472"/>
          </a:xfrm>
          <a:prstGeom prst="roundRect">
            <a:avLst>
              <a:gd name="adj" fmla="val 25000"/>
            </a:avLst>
          </a:prstGeom>
          <a:solidFill>
            <a:srgbClr val="1B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D5DAE8"/>
                </a:solidFill>
                <a:latin typeface="Inter Medium"/>
              </a:rPr>
              <a:t>Audit Vault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803904"/>
            <a:ext cx="3383280" cy="347472"/>
          </a:xfrm>
          <a:prstGeom prst="roundRect">
            <a:avLst>
              <a:gd name="adj" fmla="val 25000"/>
            </a:avLst>
          </a:prstGeom>
          <a:solidFill>
            <a:srgbClr val="1B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D5DAE8"/>
                </a:solidFill>
                <a:latin typeface="Inter Medium"/>
              </a:rPr>
              <a:t>Billing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187952"/>
            <a:ext cx="3383280" cy="347472"/>
          </a:xfrm>
          <a:prstGeom prst="roundRect">
            <a:avLst>
              <a:gd name="adj" fmla="val 25000"/>
            </a:avLst>
          </a:prstGeom>
          <a:solidFill>
            <a:srgbClr val="1B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D5DAE8"/>
                </a:solidFill>
                <a:latin typeface="Inter Medium"/>
              </a:rPr>
              <a:t>Auth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4572000"/>
            <a:ext cx="3383280" cy="347472"/>
          </a:xfrm>
          <a:prstGeom prst="roundRect">
            <a:avLst>
              <a:gd name="adj" fmla="val 25000"/>
            </a:avLst>
          </a:prstGeom>
          <a:solidFill>
            <a:srgbClr val="1B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D5DAE8"/>
                </a:solidFill>
                <a:latin typeface="Inter Medium"/>
              </a:rPr>
              <a:t>AI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956048"/>
            <a:ext cx="3383280" cy="347472"/>
          </a:xfrm>
          <a:prstGeom prst="roundRect">
            <a:avLst>
              <a:gd name="adj" fmla="val 25000"/>
            </a:avLst>
          </a:prstGeom>
          <a:solidFill>
            <a:srgbClr val="1B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D5DAE8"/>
                </a:solidFill>
                <a:latin typeface="Inter Medium"/>
              </a:rPr>
              <a:t>Frontend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5376672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25296" y="5559552"/>
            <a:ext cx="274320" cy="201168"/>
          </a:xfrm>
          <a:prstGeom prst="roundRect">
            <a:avLst>
              <a:gd name="adj" fmla="val 25000"/>
            </a:avLst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80160" y="5431536"/>
            <a:ext cx="164592" cy="201168"/>
          </a:xfrm>
          <a:prstGeom prst="ellipse">
            <a:avLst/>
          </a:prstGeom>
          <a:noFill/>
          <a:ln w="27940">
            <a:solidFill>
              <a:srgbClr val="0B0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72768" y="5376672"/>
            <a:ext cx="2788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0B0F1E"/>
                </a:solidFill>
                <a:latin typeface="Inter SemiBold"/>
              </a:rPr>
              <a:t>Bound to a vendor we don't 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1965960"/>
            <a:ext cx="6400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57800" y="215798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000">
                <a:solidFill>
                  <a:srgbClr val="E25353"/>
                </a:solidFill>
                <a:latin typeface="Space Grotesk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2066544"/>
            <a:ext cx="54864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0B0F1E"/>
                </a:solidFill>
                <a:latin typeface="Inter SemiBold"/>
              </a:rPr>
              <a:t>Cannot sell the parts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377440"/>
            <a:ext cx="548640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Everything ships as one. No single capability can be priced alone.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2880360"/>
            <a:ext cx="6400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57800" y="307238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000">
                <a:solidFill>
                  <a:srgbClr val="E25353"/>
                </a:solidFill>
                <a:latin typeface="Space Grotesk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2980944"/>
            <a:ext cx="54864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0B0F1E"/>
                </a:solidFill>
                <a:latin typeface="Inter SemiBold"/>
              </a:rPr>
              <a:t>Cannot scale a hotspot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291840"/>
            <a:ext cx="548640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One busy feature slows the whole product. Nothing scales in isolation.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3794760"/>
            <a:ext cx="6400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257800" y="398678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000">
                <a:solidFill>
                  <a:srgbClr val="E25353"/>
                </a:solidFill>
                <a:latin typeface="Space Grotesk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3895344"/>
            <a:ext cx="54864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0B0F1E"/>
                </a:solidFill>
                <a:latin typeface="Inter SemiBold"/>
              </a:rPr>
              <a:t>Vendor dependency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206240"/>
            <a:ext cx="548640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Core pieces run on a platform we neither own nor control.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4709160"/>
            <a:ext cx="6400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257800" y="490118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000">
                <a:solidFill>
                  <a:srgbClr val="E25353"/>
                </a:solidFill>
                <a:latin typeface="Space Grotesk"/>
              </a:rP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809744"/>
            <a:ext cx="54864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0B0F1E"/>
                </a:solidFill>
                <a:latin typeface="Inter SemiBold"/>
              </a:rPr>
              <a:t>Every change is risky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5120640"/>
            <a:ext cx="548640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Edits touch shared code, so small changes carry outsized blast radius.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spc="200">
                <a:solidFill>
                  <a:srgbClr val="6A7288"/>
                </a:solidFill>
                <a:latin typeface="JetBrains Mono Medium"/>
              </a:rPr>
              <a:t>ZEUS CONSULTING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spc="120">
                <a:solidFill>
                  <a:srgbClr val="6A7288"/>
                </a:solidFill>
                <a:latin typeface="JetBrains Mono Medium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585216"/>
            <a:ext cx="201168" cy="12801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4" y="548640"/>
            <a:ext cx="8229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260">
                <a:solidFill>
                  <a:srgbClr val="7AC43D"/>
                </a:solidFill>
                <a:latin typeface="JetBrains Mono Medium"/>
              </a:rPr>
              <a:t>THE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>
                <a:solidFill>
                  <a:srgbClr val="FFFFFF"/>
                </a:solidFill>
                <a:latin typeface="Space Grotesk"/>
              </a:rPr>
              <a:t>A platform underneath, services on 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401568" cy="2148840"/>
          </a:xfrm>
          <a:prstGeom prst="roundRect">
            <a:avLst>
              <a:gd name="adj" fmla="val 8000"/>
            </a:avLst>
          </a:prstGeom>
          <a:solidFill>
            <a:srgbClr val="12182E"/>
          </a:solidFill>
          <a:ln w="15875">
            <a:solidFill>
              <a:srgbClr val="2A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3401568" cy="91440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2121408"/>
            <a:ext cx="310896" cy="310896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103120"/>
            <a:ext cx="2624328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>
                <a:solidFill>
                  <a:srgbClr val="FFFFFF"/>
                </a:solidFill>
                <a:latin typeface="Space Grotesk SemiBold"/>
              </a:rPr>
              <a:t>Grant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42032"/>
            <a:ext cx="289864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40">
                <a:solidFill>
                  <a:srgbClr val="9ADC5E"/>
                </a:solidFill>
                <a:latin typeface="JetBrains Mono Medium"/>
              </a:rPr>
              <a:t>Find and win funding</a:t>
            </a:r>
          </a:p>
        </p:txBody>
      </p:sp>
      <p:sp>
        <p:nvSpPr>
          <p:cNvPr id="12" name="Oval 11"/>
          <p:cNvSpPr/>
          <p:nvPr/>
        </p:nvSpPr>
        <p:spPr>
          <a:xfrm>
            <a:off x="1115568" y="2971800"/>
            <a:ext cx="73152" cy="73152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" y="2898648"/>
            <a:ext cx="276148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C2C9DD"/>
                </a:solidFill>
                <a:latin typeface="Inter"/>
              </a:rPr>
              <a:t>Sold on its own</a:t>
            </a:r>
          </a:p>
        </p:txBody>
      </p:sp>
      <p:sp>
        <p:nvSpPr>
          <p:cNvPr id="14" name="Oval 13"/>
          <p:cNvSpPr/>
          <p:nvPr/>
        </p:nvSpPr>
        <p:spPr>
          <a:xfrm>
            <a:off x="1115568" y="3227832"/>
            <a:ext cx="73152" cy="73152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3154680"/>
            <a:ext cx="276148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C2C9DD"/>
                </a:solidFill>
                <a:latin typeface="Inter"/>
              </a:rPr>
              <a:t>Billed on its own</a:t>
            </a:r>
          </a:p>
        </p:txBody>
      </p:sp>
      <p:sp>
        <p:nvSpPr>
          <p:cNvPr id="16" name="Oval 15"/>
          <p:cNvSpPr/>
          <p:nvPr/>
        </p:nvSpPr>
        <p:spPr>
          <a:xfrm>
            <a:off x="1115568" y="3483864"/>
            <a:ext cx="73152" cy="73152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3410712"/>
            <a:ext cx="276148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C2C9DD"/>
                </a:solidFill>
                <a:latin typeface="Inter"/>
              </a:rPr>
              <a:t>Scaled on its own</a:t>
            </a:r>
          </a:p>
        </p:txBody>
      </p:sp>
      <p:sp>
        <p:nvSpPr>
          <p:cNvPr id="18" name="Oval 17"/>
          <p:cNvSpPr/>
          <p:nvPr/>
        </p:nvSpPr>
        <p:spPr>
          <a:xfrm>
            <a:off x="1115568" y="3739896"/>
            <a:ext cx="73152" cy="73152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3666744"/>
            <a:ext cx="276148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C2C9DD"/>
                </a:solidFill>
                <a:latin typeface="Inter"/>
              </a:rPr>
              <a:t>Data isolated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23744.0" y="3977639"/>
            <a:ext cx="0.0" cy="301753"/>
          </a:xfrm>
          <a:prstGeom prst="bentConnector3">
            <a:avLst/>
          </a:prstGeom>
          <a:ln w="25400">
            <a:solidFill>
              <a:srgbClr val="7AC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07408" y="1828800"/>
            <a:ext cx="3401568" cy="2148840"/>
          </a:xfrm>
          <a:prstGeom prst="roundRect">
            <a:avLst>
              <a:gd name="adj" fmla="val 8000"/>
            </a:avLst>
          </a:prstGeom>
          <a:solidFill>
            <a:srgbClr val="12182E"/>
          </a:solidFill>
          <a:ln w="15875">
            <a:solidFill>
              <a:srgbClr val="2A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7408" y="1828800"/>
            <a:ext cx="3401568" cy="91440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63440" y="2121408"/>
            <a:ext cx="310896" cy="310896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3208" y="2103120"/>
            <a:ext cx="2624328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>
                <a:solidFill>
                  <a:srgbClr val="FFFFFF"/>
                </a:solidFill>
                <a:latin typeface="Space Grotesk SemiBold"/>
              </a:rPr>
              <a:t>Contract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2542032"/>
            <a:ext cx="289864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40">
                <a:solidFill>
                  <a:srgbClr val="9ADC5E"/>
                </a:solidFill>
                <a:latin typeface="JetBrains Mono Medium"/>
              </a:rPr>
              <a:t>Track obligations</a:t>
            </a:r>
          </a:p>
        </p:txBody>
      </p:sp>
      <p:sp>
        <p:nvSpPr>
          <p:cNvPr id="26" name="Oval 25"/>
          <p:cNvSpPr/>
          <p:nvPr/>
        </p:nvSpPr>
        <p:spPr>
          <a:xfrm>
            <a:off x="4700016" y="2971800"/>
            <a:ext cx="73152" cy="73152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82896" y="2898648"/>
            <a:ext cx="276148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C2C9DD"/>
                </a:solidFill>
                <a:latin typeface="Inter"/>
              </a:rPr>
              <a:t>Sold on its own</a:t>
            </a:r>
          </a:p>
        </p:txBody>
      </p:sp>
      <p:sp>
        <p:nvSpPr>
          <p:cNvPr id="28" name="Oval 27"/>
          <p:cNvSpPr/>
          <p:nvPr/>
        </p:nvSpPr>
        <p:spPr>
          <a:xfrm>
            <a:off x="4700016" y="3227832"/>
            <a:ext cx="73152" cy="73152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2896" y="3154680"/>
            <a:ext cx="276148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C2C9DD"/>
                </a:solidFill>
                <a:latin typeface="Inter"/>
              </a:rPr>
              <a:t>Billed on its own</a:t>
            </a:r>
          </a:p>
        </p:txBody>
      </p:sp>
      <p:sp>
        <p:nvSpPr>
          <p:cNvPr id="30" name="Oval 29"/>
          <p:cNvSpPr/>
          <p:nvPr/>
        </p:nvSpPr>
        <p:spPr>
          <a:xfrm>
            <a:off x="4700016" y="3483864"/>
            <a:ext cx="73152" cy="73152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82896" y="3410712"/>
            <a:ext cx="276148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C2C9DD"/>
                </a:solidFill>
                <a:latin typeface="Inter"/>
              </a:rPr>
              <a:t>Scaled on its own</a:t>
            </a:r>
          </a:p>
        </p:txBody>
      </p:sp>
      <p:sp>
        <p:nvSpPr>
          <p:cNvPr id="32" name="Oval 31"/>
          <p:cNvSpPr/>
          <p:nvPr/>
        </p:nvSpPr>
        <p:spPr>
          <a:xfrm>
            <a:off x="4700016" y="3739896"/>
            <a:ext cx="73152" cy="73152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3666744"/>
            <a:ext cx="276148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C2C9DD"/>
                </a:solidFill>
                <a:latin typeface="Inter"/>
              </a:rPr>
              <a:t>Data isolated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08192.0" y="3977639"/>
            <a:ext cx="0.0" cy="301753"/>
          </a:xfrm>
          <a:prstGeom prst="bentConnector3">
            <a:avLst/>
          </a:prstGeom>
          <a:ln w="25400">
            <a:solidFill>
              <a:srgbClr val="7AC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991856" y="1828800"/>
            <a:ext cx="3401568" cy="2148840"/>
          </a:xfrm>
          <a:prstGeom prst="roundRect">
            <a:avLst>
              <a:gd name="adj" fmla="val 8000"/>
            </a:avLst>
          </a:prstGeom>
          <a:solidFill>
            <a:srgbClr val="12182E"/>
          </a:solidFill>
          <a:ln w="15875">
            <a:solidFill>
              <a:srgbClr val="2A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91856" y="1828800"/>
            <a:ext cx="3401568" cy="91440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47888" y="2121408"/>
            <a:ext cx="310896" cy="310896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77656" y="2103120"/>
            <a:ext cx="2624328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>
                <a:solidFill>
                  <a:srgbClr val="FFFFFF"/>
                </a:solidFill>
                <a:latin typeface="Space Grotesk SemiBold"/>
              </a:rPr>
              <a:t>Audit Vault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6" y="2542032"/>
            <a:ext cx="289864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40">
                <a:solidFill>
                  <a:srgbClr val="9ADC5E"/>
                </a:solidFill>
                <a:latin typeface="JetBrains Mono Medium"/>
              </a:rPr>
              <a:t>Evidence and readiness</a:t>
            </a:r>
          </a:p>
        </p:txBody>
      </p:sp>
      <p:sp>
        <p:nvSpPr>
          <p:cNvPr id="40" name="Oval 39"/>
          <p:cNvSpPr/>
          <p:nvPr/>
        </p:nvSpPr>
        <p:spPr>
          <a:xfrm>
            <a:off x="8284464" y="2971800"/>
            <a:ext cx="73152" cy="73152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67344" y="2898648"/>
            <a:ext cx="276148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C2C9DD"/>
                </a:solidFill>
                <a:latin typeface="Inter"/>
              </a:rPr>
              <a:t>Sold on its own</a:t>
            </a:r>
          </a:p>
        </p:txBody>
      </p:sp>
      <p:sp>
        <p:nvSpPr>
          <p:cNvPr id="42" name="Oval 41"/>
          <p:cNvSpPr/>
          <p:nvPr/>
        </p:nvSpPr>
        <p:spPr>
          <a:xfrm>
            <a:off x="8284464" y="3227832"/>
            <a:ext cx="73152" cy="73152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67344" y="3154680"/>
            <a:ext cx="276148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C2C9DD"/>
                </a:solidFill>
                <a:latin typeface="Inter"/>
              </a:rPr>
              <a:t>Billed on its own</a:t>
            </a:r>
          </a:p>
        </p:txBody>
      </p:sp>
      <p:sp>
        <p:nvSpPr>
          <p:cNvPr id="44" name="Oval 43"/>
          <p:cNvSpPr/>
          <p:nvPr/>
        </p:nvSpPr>
        <p:spPr>
          <a:xfrm>
            <a:off x="8284464" y="3483864"/>
            <a:ext cx="73152" cy="73152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67344" y="3410712"/>
            <a:ext cx="276148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C2C9DD"/>
                </a:solidFill>
                <a:latin typeface="Inter"/>
              </a:rPr>
              <a:t>Scaled on its own</a:t>
            </a:r>
          </a:p>
        </p:txBody>
      </p:sp>
      <p:sp>
        <p:nvSpPr>
          <p:cNvPr id="46" name="Oval 45"/>
          <p:cNvSpPr/>
          <p:nvPr/>
        </p:nvSpPr>
        <p:spPr>
          <a:xfrm>
            <a:off x="8284464" y="3739896"/>
            <a:ext cx="73152" cy="73152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67344" y="3666744"/>
            <a:ext cx="276148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C2C9DD"/>
                </a:solidFill>
                <a:latin typeface="Inter"/>
              </a:rPr>
              <a:t>Data isolated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692640.0" y="3977639"/>
            <a:ext cx="0.0" cy="301753"/>
          </a:xfrm>
          <a:prstGeom prst="bentConnector3">
            <a:avLst/>
          </a:prstGeom>
          <a:ln w="25400">
            <a:solidFill>
              <a:srgbClr val="7AC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22960" y="4315968"/>
            <a:ext cx="10533888" cy="1298448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022EEB"/>
              </a:gs>
              <a:gs pos="100000">
                <a:srgbClr val="03146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4128" y="4425696"/>
            <a:ext cx="45720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240">
                <a:solidFill>
                  <a:srgbClr val="FFFFFF"/>
                </a:solidFill>
                <a:latin typeface="JetBrains Mono Medium"/>
              </a:rPr>
              <a:t>PLATFORM CORE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4128" y="4809744"/>
            <a:ext cx="1965960" cy="603504"/>
          </a:xfrm>
          <a:prstGeom prst="roundRect">
            <a:avLst>
              <a:gd name="adj" fmla="val 14000"/>
            </a:avLst>
          </a:prstGeom>
          <a:solidFill>
            <a:srgbClr val="031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FFFFFF"/>
                </a:solidFill>
                <a:latin typeface="Inter Medium"/>
              </a:rPr>
              <a:t>Identity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108960" y="4809744"/>
            <a:ext cx="1965960" cy="603504"/>
          </a:xfrm>
          <a:prstGeom prst="roundRect">
            <a:avLst>
              <a:gd name="adj" fmla="val 14000"/>
            </a:avLst>
          </a:prstGeom>
          <a:solidFill>
            <a:srgbClr val="031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FFFFFF"/>
                </a:solidFill>
                <a:latin typeface="Inter Medium"/>
              </a:rPr>
              <a:t>Tenancy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93792" y="4809744"/>
            <a:ext cx="1965960" cy="603504"/>
          </a:xfrm>
          <a:prstGeom prst="roundRect">
            <a:avLst>
              <a:gd name="adj" fmla="val 14000"/>
            </a:avLst>
          </a:prstGeom>
          <a:solidFill>
            <a:srgbClr val="031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FFFFFF"/>
                </a:solidFill>
                <a:latin typeface="Inter Medium"/>
              </a:rPr>
              <a:t>Billing &amp; Entitlements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78624" y="4809744"/>
            <a:ext cx="1965960" cy="603504"/>
          </a:xfrm>
          <a:prstGeom prst="roundRect">
            <a:avLst>
              <a:gd name="adj" fmla="val 14000"/>
            </a:avLst>
          </a:prstGeom>
          <a:solidFill>
            <a:srgbClr val="031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FFFFFF"/>
                </a:solidFill>
                <a:latin typeface="Inter Medium"/>
              </a:rPr>
              <a:t>Admin Control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63456" y="4809744"/>
            <a:ext cx="1965960" cy="603504"/>
          </a:xfrm>
          <a:prstGeom prst="roundRect">
            <a:avLst>
              <a:gd name="adj" fmla="val 14000"/>
            </a:avLst>
          </a:prstGeom>
          <a:solidFill>
            <a:srgbClr val="031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FFFFFF"/>
                </a:solidFill>
                <a:latin typeface="Inter Medium"/>
              </a:rPr>
              <a:t>Eventing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9ADC5E"/>
                </a:solidFill>
                <a:latin typeface="Inter Medium"/>
              </a:rPr>
              <a:t>Buy one, buy two, or buy all three — each customer sees only what they pay for.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9284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spc="120">
                <a:solidFill>
                  <a:srgbClr val="979FB3"/>
                </a:solidFill>
                <a:latin typeface="JetBrains Mono Medium"/>
              </a:rPr>
              <a:t>05 / 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spc="200">
                <a:solidFill>
                  <a:srgbClr val="979FB3"/>
                </a:solidFill>
                <a:latin typeface="JetBrains Mono Medium"/>
              </a:rPr>
              <a:t>ZEUS CONSULTING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85216"/>
            <a:ext cx="201168" cy="12801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4984" y="548640"/>
            <a:ext cx="8229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260">
                <a:solidFill>
                  <a:srgbClr val="022EEB"/>
                </a:solidFill>
                <a:latin typeface="JetBrains Mono Medium"/>
              </a:rPr>
              <a:t>TARGET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>
                <a:solidFill>
                  <a:srgbClr val="0B0F1E"/>
                </a:solidFill>
                <a:latin typeface="Space Grotesk"/>
              </a:rPr>
              <a:t>How the system fits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10835640" cy="896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18488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spc="180">
                <a:solidFill>
                  <a:srgbClr val="6A7288"/>
                </a:solidFill>
                <a:latin typeface="JetBrains Mono Medium"/>
              </a:rPr>
              <a:t>USER LAYER · VERCEL (FREE)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865376"/>
            <a:ext cx="2926080" cy="512064"/>
          </a:xfrm>
          <a:prstGeom prst="roundRect">
            <a:avLst>
              <a:gd name="adj" fmla="val 14000"/>
            </a:avLst>
          </a:prstGeom>
          <a:solidFill>
            <a:srgbClr val="7AC43D"/>
          </a:soli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2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Marketing + Ads funnel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865376"/>
            <a:ext cx="2926080" cy="512064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022EEB"/>
              </a:gs>
              <a:gs pos="100000">
                <a:srgbClr val="03146E"/>
              </a:gs>
            </a:gsLst>
            <a:lin ang="6600000" scaled="1"/>
          </a:gra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2000"/>
              </a:lnSpc>
            </a:pPr>
            <a:r>
              <a:rPr sz="1200">
                <a:solidFill>
                  <a:srgbClr val="FFFFFF"/>
                </a:solidFill>
                <a:latin typeface="Inter SemiBold"/>
              </a:rPr>
              <a:t>React 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865376"/>
            <a:ext cx="2743200" cy="512064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0B0F1E"/>
              </a:gs>
              <a:gs pos="100000">
                <a:srgbClr val="12182E"/>
              </a:gs>
            </a:gsLst>
            <a:lin ang="6600000" scaled="1"/>
          </a:gra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2000"/>
              </a:lnSpc>
            </a:pPr>
            <a:r>
              <a:rPr sz="1200">
                <a:solidFill>
                  <a:srgbClr val="FFFFFF"/>
                </a:solidFill>
                <a:latin typeface="Inter SemiBold"/>
              </a:rPr>
              <a:t>Admin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70048"/>
            <a:ext cx="10835640" cy="841248"/>
          </a:xfrm>
          <a:prstGeom prst="roundRect">
            <a:avLst>
              <a:gd name="adj" fmla="val 4000"/>
            </a:avLst>
          </a:prstGeom>
          <a:solidFill>
            <a:srgbClr val="ECEFFF"/>
          </a:solidFill>
          <a:ln w="12700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15768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spc="180">
                <a:solidFill>
                  <a:srgbClr val="6A7288"/>
                </a:solidFill>
                <a:latin typeface="JetBrains Mono Medium"/>
              </a:rPr>
              <a:t>GATEWAY · BACKEND FOR FRONTEND (PYTHON)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2907792"/>
            <a:ext cx="5943600" cy="457200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022EEB"/>
              </a:gs>
              <a:gs pos="100000">
                <a:srgbClr val="03146E"/>
              </a:gs>
            </a:gsLst>
            <a:lin ang="6600000" scaled="1"/>
          </a:gra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2000"/>
              </a:lnSpc>
            </a:pPr>
            <a:r>
              <a:rPr sz="1100">
                <a:solidFill>
                  <a:srgbClr val="FFFFFF"/>
                </a:solidFill>
                <a:latin typeface="Inter SemiBold"/>
              </a:rPr>
              <a:t>Authenticate  ·  resolve tenant  ·  check entitlements  · 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12463"/>
            <a:ext cx="10835640" cy="12252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58183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spc="180">
                <a:solidFill>
                  <a:srgbClr val="6A7288"/>
                </a:solidFill>
                <a:latin typeface="JetBrains Mono Medium"/>
              </a:rPr>
              <a:t>SERVICES · PYTHON, INDEPENDENT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078224"/>
            <a:ext cx="2331720" cy="694944"/>
          </a:xfrm>
          <a:prstGeom prst="roundRect">
            <a:avLst>
              <a:gd name="adj" fmla="val 14000"/>
            </a:avLst>
          </a:prstGeom>
          <a:solidFill>
            <a:srgbClr val="7AC43D"/>
          </a:soli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2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Grant</a:t>
            </a:r>
          </a:p>
          <a:p>
            <a:pPr algn="ctr">
              <a:lnSpc>
                <a:spcPct val="102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Intelligence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4078224"/>
            <a:ext cx="2331720" cy="694944"/>
          </a:xfrm>
          <a:prstGeom prst="roundRect">
            <a:avLst>
              <a:gd name="adj" fmla="val 14000"/>
            </a:avLst>
          </a:prstGeom>
          <a:solidFill>
            <a:srgbClr val="7AC43D"/>
          </a:soli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2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Contract</a:t>
            </a:r>
          </a:p>
          <a:p>
            <a:pPr algn="ctr">
              <a:lnSpc>
                <a:spcPct val="102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Compliance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43016" y="4078224"/>
            <a:ext cx="2331720" cy="694944"/>
          </a:xfrm>
          <a:prstGeom prst="roundRect">
            <a:avLst>
              <a:gd name="adj" fmla="val 14000"/>
            </a:avLst>
          </a:prstGeom>
          <a:solidFill>
            <a:srgbClr val="7AC43D"/>
          </a:soli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2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Audit</a:t>
            </a:r>
          </a:p>
          <a:p>
            <a:pPr algn="ctr">
              <a:lnSpc>
                <a:spcPct val="102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Vault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4078224"/>
            <a:ext cx="2286000" cy="694944"/>
          </a:xfrm>
          <a:prstGeom prst="roundRect">
            <a:avLst>
              <a:gd name="adj" fmla="val 14000"/>
            </a:avLst>
          </a:prstGeom>
          <a:solidFill>
            <a:srgbClr val="F2A82E"/>
          </a:soli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2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AI Worker</a:t>
            </a:r>
          </a:p>
          <a:p>
            <a:pPr algn="ctr">
              <a:lnSpc>
                <a:spcPct val="102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async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175504"/>
            <a:ext cx="10835640" cy="1280160"/>
          </a:xfrm>
          <a:prstGeom prst="roundRect">
            <a:avLst>
              <a:gd name="adj" fmla="val 4000"/>
            </a:avLst>
          </a:prstGeom>
          <a:solidFill>
            <a:srgbClr val="EAEEF6"/>
          </a:solidFill>
          <a:ln w="12700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21224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spc="180">
                <a:solidFill>
                  <a:srgbClr val="6A7288"/>
                </a:solidFill>
                <a:latin typeface="JetBrains Mono Medium"/>
              </a:rPr>
              <a:t>MANAGED BACKBONE · FREE TIERS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5541264"/>
            <a:ext cx="1627632" cy="713232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0B0F1E"/>
              </a:gs>
              <a:gs pos="100000">
                <a:srgbClr val="12182E"/>
              </a:gs>
            </a:gsLst>
            <a:lin ang="6600000" scaled="1"/>
          </a:gra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FFFFFF"/>
                </a:solidFill>
                <a:latin typeface="Inter SemiBold"/>
              </a:rPr>
              <a:t>Postgres</a:t>
            </a:r>
          </a:p>
          <a:p>
            <a:pPr algn="ctr">
              <a:lnSpc>
                <a:spcPct val="102000"/>
              </a:lnSpc>
            </a:pPr>
            <a:r>
              <a:rPr sz="1050">
                <a:solidFill>
                  <a:srgbClr val="FFFFFF"/>
                </a:solidFill>
                <a:latin typeface="Inter SemiBold"/>
              </a:rPr>
              <a:t>+ Auth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15768" y="5541264"/>
            <a:ext cx="1627632" cy="713232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E25353"/>
              </a:gs>
              <a:gs pos="100000">
                <a:srgbClr val="B53B3B"/>
              </a:gs>
            </a:gsLst>
            <a:lin ang="6600000" scaled="1"/>
          </a:gra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FFFFFF"/>
                </a:solidFill>
                <a:latin typeface="Inter SemiBold"/>
              </a:rPr>
              <a:t>Redis</a:t>
            </a:r>
          </a:p>
          <a:p>
            <a:pPr algn="ctr">
              <a:lnSpc>
                <a:spcPct val="102000"/>
              </a:lnSpc>
            </a:pPr>
            <a:r>
              <a:rPr sz="1050">
                <a:solidFill>
                  <a:srgbClr val="FFFFFF"/>
                </a:solidFill>
                <a:latin typeface="Inter SemiBold"/>
              </a:rPr>
              <a:t>cache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71416" y="5541264"/>
            <a:ext cx="1627632" cy="713232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F2A82E"/>
              </a:gs>
              <a:gs pos="100000">
                <a:srgbClr val="C9861E"/>
              </a:gs>
            </a:gsLst>
            <a:lin ang="6600000" scaled="1"/>
          </a:gra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FFFFFF"/>
                </a:solidFill>
                <a:latin typeface="Inter SemiBold"/>
              </a:rPr>
              <a:t>Queue</a:t>
            </a:r>
          </a:p>
          <a:p>
            <a:pPr algn="ctr">
              <a:lnSpc>
                <a:spcPct val="102000"/>
              </a:lnSpc>
            </a:pPr>
            <a:r>
              <a:rPr sz="1050">
                <a:solidFill>
                  <a:srgbClr val="FFFFFF"/>
                </a:solidFill>
                <a:latin typeface="Inter SemiBold"/>
              </a:rPr>
              <a:t>eventing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5541264"/>
            <a:ext cx="1627632" cy="713232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022EEB"/>
              </a:gs>
              <a:gs pos="100000">
                <a:srgbClr val="03146E"/>
              </a:gs>
            </a:gsLst>
            <a:lin ang="6600000" scaled="1"/>
          </a:gra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FFFFFF"/>
                </a:solidFill>
                <a:latin typeface="Inter SemiBold"/>
              </a:rPr>
              <a:t>Stripe</a:t>
            </a:r>
          </a:p>
          <a:p>
            <a:pPr algn="ctr">
              <a:lnSpc>
                <a:spcPct val="102000"/>
              </a:lnSpc>
            </a:pPr>
            <a:r>
              <a:rPr sz="1050">
                <a:solidFill>
                  <a:srgbClr val="FFFFFF"/>
                </a:solidFill>
                <a:latin typeface="Inter SemiBold"/>
              </a:rPr>
              <a:t>billing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82712" y="5541264"/>
            <a:ext cx="1627632" cy="713232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3C445C"/>
              </a:gs>
              <a:gs pos="100000">
                <a:srgbClr val="0B0F1E"/>
              </a:gs>
            </a:gsLst>
            <a:lin ang="6600000" scaled="1"/>
          </a:gra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FFFFFF"/>
                </a:solidFill>
                <a:latin typeface="Inter SemiBold"/>
              </a:rPr>
              <a:t>Object</a:t>
            </a:r>
          </a:p>
          <a:p>
            <a:pPr algn="ctr">
              <a:lnSpc>
                <a:spcPct val="102000"/>
              </a:lnSpc>
            </a:pPr>
            <a:r>
              <a:rPr sz="1050">
                <a:solidFill>
                  <a:srgbClr val="FFFFFF"/>
                </a:solidFill>
                <a:latin typeface="Inter SemiBold"/>
              </a:rPr>
              <a:t>storage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5541264"/>
            <a:ext cx="1627632" cy="713232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7AC43D"/>
              </a:gs>
              <a:gs pos="100000">
                <a:srgbClr val="4F8A1F"/>
              </a:gs>
            </a:gsLst>
            <a:lin ang="6600000" scaled="1"/>
          </a:gra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FFFFFF"/>
                </a:solidFill>
                <a:latin typeface="Inter SemiBold"/>
              </a:rPr>
              <a:t>Observability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23160" y="2377440"/>
            <a:ext cx="0" cy="292608"/>
          </a:xfrm>
          <a:prstGeom prst="bentConnector3">
            <a:avLst/>
          </a:prstGeom>
          <a:ln w="22225">
            <a:solidFill>
              <a:srgbClr val="3B6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532120" y="2377440"/>
            <a:ext cx="0" cy="292608"/>
          </a:xfrm>
          <a:prstGeom prst="bentConnector3">
            <a:avLst/>
          </a:prstGeom>
          <a:ln w="22225">
            <a:solidFill>
              <a:srgbClr val="3B6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49640" y="2377440"/>
            <a:ext cx="0" cy="292608"/>
          </a:xfrm>
          <a:prstGeom prst="bentConnector3">
            <a:avLst/>
          </a:prstGeom>
          <a:ln w="22225">
            <a:solidFill>
              <a:srgbClr val="3B6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32120" y="3364992"/>
            <a:ext cx="0" cy="347471"/>
          </a:xfrm>
          <a:prstGeom prst="bentConnector3">
            <a:avLst/>
          </a:prstGeom>
          <a:ln w="22225">
            <a:solidFill>
              <a:srgbClr val="3B6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spc="200">
                <a:solidFill>
                  <a:srgbClr val="6A7288"/>
                </a:solidFill>
                <a:latin typeface="JetBrains Mono Medium"/>
              </a:rPr>
              <a:t>ZEUS CONSULTING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spc="120">
                <a:solidFill>
                  <a:srgbClr val="6A7288"/>
                </a:solidFill>
                <a:latin typeface="JetBrains Mono Medium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85216"/>
            <a:ext cx="201168" cy="12801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4984" y="548640"/>
            <a:ext cx="8229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260">
                <a:solidFill>
                  <a:srgbClr val="022EEB"/>
                </a:solidFill>
                <a:latin typeface="JetBrains Mono Medium"/>
              </a:rPr>
              <a:t>REVENUE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>
                <a:solidFill>
                  <a:srgbClr val="0B0F1E"/>
                </a:solidFill>
                <a:latin typeface="Space Grotesk"/>
              </a:rPr>
              <a:t>Every service earns on its 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615184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52400" dist="50800" dir="5400000" rotWithShape="0">
              <a:srgbClr val="0B0F1E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615184" cy="566928"/>
          </a:xfrm>
          <a:prstGeom prst="roundRect">
            <a:avLst>
              <a:gd name="adj" fmla="val 10000"/>
            </a:avLst>
          </a:prstGeom>
          <a:solidFill>
            <a:srgbClr val="022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84831"/>
            <a:ext cx="2615184" cy="310896"/>
          </a:xfrm>
          <a:prstGeom prst="rect">
            <a:avLst/>
          </a:prstGeom>
          <a:solidFill>
            <a:srgbClr val="022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83664"/>
            <a:ext cx="2615184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spc="200">
                <a:solidFill>
                  <a:srgbClr val="FFFFFF"/>
                </a:solidFill>
                <a:latin typeface="JetBrains Mono Medium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2249424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>
                <a:solidFill>
                  <a:srgbClr val="0B0F1E"/>
                </a:solidFill>
                <a:latin typeface="Inter SemiBold"/>
              </a:rPr>
              <a:t>Customer picks a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2249424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They choose only what they need on the pricing page.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9272" y="2852928"/>
            <a:ext cx="201168" cy="0"/>
          </a:xfrm>
          <a:prstGeom prst="bentConnector3">
            <a:avLst/>
          </a:prstGeom>
          <a:ln w="25400">
            <a:solidFill>
              <a:srgbClr val="3C44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75304" y="1828800"/>
            <a:ext cx="2615184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52400" dist="50800" dir="5400000" rotWithShape="0">
              <a:srgbClr val="0B0F1E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75304" y="1828800"/>
            <a:ext cx="2615184" cy="566928"/>
          </a:xfrm>
          <a:prstGeom prst="roundRect">
            <a:avLst>
              <a:gd name="adj" fmla="val 10000"/>
            </a:avLst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75304" y="2084831"/>
            <a:ext cx="2615184" cy="31089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5304" y="1883664"/>
            <a:ext cx="2615184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spc="200">
                <a:solidFill>
                  <a:srgbClr val="FFFFFF"/>
                </a:solidFill>
                <a:latin typeface="JetBrains Mono Medium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184" y="2542032"/>
            <a:ext cx="2249424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>
                <a:solidFill>
                  <a:srgbClr val="0B0F1E"/>
                </a:solidFill>
                <a:latin typeface="Inter SemiBold"/>
              </a:rPr>
              <a:t>Pays for that 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8184" y="3200400"/>
            <a:ext cx="2249424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A separate subscription and trial per service.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08776" y="2852928"/>
            <a:ext cx="201168" cy="0"/>
          </a:xfrm>
          <a:prstGeom prst="bentConnector3">
            <a:avLst/>
          </a:prstGeom>
          <a:ln w="25400">
            <a:solidFill>
              <a:srgbClr val="3C44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64808" y="1828800"/>
            <a:ext cx="2615184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52400" dist="50800" dir="5400000" rotWithShape="0">
              <a:srgbClr val="0B0F1E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64808" y="1828800"/>
            <a:ext cx="2615184" cy="566928"/>
          </a:xfrm>
          <a:prstGeom prst="roundRect">
            <a:avLst>
              <a:gd name="adj" fmla="val 10000"/>
            </a:avLst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64808" y="2084831"/>
            <a:ext cx="2615184" cy="310896"/>
          </a:xfrm>
          <a:prstGeom prst="rect">
            <a:avLst/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1883664"/>
            <a:ext cx="2615184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spc="200">
                <a:solidFill>
                  <a:srgbClr val="FFFFFF"/>
                </a:solidFill>
                <a:latin typeface="JetBrains Mono Medium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2542032"/>
            <a:ext cx="2249424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>
                <a:solidFill>
                  <a:srgbClr val="0B0F1E"/>
                </a:solidFill>
                <a:latin typeface="Inter SemiBold"/>
              </a:rPr>
              <a:t>Access is granted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3200400"/>
            <a:ext cx="2249424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A signed permission is issued for that service only.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98280" y="2852928"/>
            <a:ext cx="201168" cy="0"/>
          </a:xfrm>
          <a:prstGeom prst="bentConnector3">
            <a:avLst/>
          </a:prstGeom>
          <a:ln w="25400">
            <a:solidFill>
              <a:srgbClr val="3C44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354312" y="1828800"/>
            <a:ext cx="2615184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52400" dist="50800" dir="5400000" rotWithShape="0">
              <a:srgbClr val="0B0F1E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54312" y="1828800"/>
            <a:ext cx="2615184" cy="566928"/>
          </a:xfrm>
          <a:prstGeom prst="roundRect">
            <a:avLst>
              <a:gd name="adj" fmla="val 10000"/>
            </a:avLst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54312" y="2084831"/>
            <a:ext cx="2615184" cy="310896"/>
          </a:xfrm>
          <a:prstGeom prst="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54312" y="1883664"/>
            <a:ext cx="2615184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spc="200">
                <a:solidFill>
                  <a:srgbClr val="FFFFFF"/>
                </a:solidFill>
                <a:latin typeface="JetBrains Mono Medium"/>
              </a:rPr>
              <a:t>STEP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7192" y="2542032"/>
            <a:ext cx="2249424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>
                <a:solidFill>
                  <a:srgbClr val="0B0F1E"/>
                </a:solidFill>
                <a:latin typeface="Inter SemiBold"/>
              </a:rPr>
              <a:t>The rest stays locked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7192" y="3200400"/>
            <a:ext cx="2249424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Other services are invisible and unreachable.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279392"/>
            <a:ext cx="10835640" cy="1755648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0B0F1E"/>
              </a:gs>
              <a:gs pos="100000">
                <a:srgbClr val="12182E"/>
              </a:gs>
            </a:gsLst>
            <a:lin ang="6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425696"/>
            <a:ext cx="64008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240">
                <a:solidFill>
                  <a:srgbClr val="7AC43D"/>
                </a:solidFill>
                <a:latin typeface="JetBrains Mono Medium"/>
              </a:rPr>
              <a:t>PACKAGING BUILT FOR GROWTH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882896"/>
            <a:ext cx="2542032" cy="932688"/>
          </a:xfrm>
          <a:prstGeom prst="roundRect">
            <a:avLst>
              <a:gd name="adj" fmla="val 10000"/>
            </a:avLst>
          </a:prstGeom>
          <a:solidFill>
            <a:srgbClr val="1B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" y="4983480"/>
            <a:ext cx="2286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Inter SemiBold"/>
              </a:rPr>
              <a:t>Single 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" y="5321808"/>
            <a:ext cx="2286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AEB6CB"/>
                </a:solidFill>
                <a:latin typeface="Inter"/>
              </a:rPr>
              <a:t>Land on one clear need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84448" y="4882896"/>
            <a:ext cx="2542032" cy="932688"/>
          </a:xfrm>
          <a:prstGeom prst="roundRect">
            <a:avLst>
              <a:gd name="adj" fmla="val 10000"/>
            </a:avLst>
          </a:prstGeom>
          <a:solidFill>
            <a:srgbClr val="1B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0" y="4983480"/>
            <a:ext cx="2286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Inter SemiBold"/>
              </a:rPr>
              <a:t>Two 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0" y="5321808"/>
            <a:ext cx="2286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AEB6CB"/>
                </a:solidFill>
                <a:latin typeface="Inter"/>
              </a:rPr>
              <a:t>Automatic bundle discount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4496" y="4882896"/>
            <a:ext cx="2542032" cy="932688"/>
          </a:xfrm>
          <a:prstGeom prst="roundRect">
            <a:avLst>
              <a:gd name="adj" fmla="val 10000"/>
            </a:avLst>
          </a:prstGeom>
          <a:solidFill>
            <a:srgbClr val="1B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4983480"/>
            <a:ext cx="2286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Inter SemiBold"/>
              </a:rPr>
              <a:t>Full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5321808"/>
            <a:ext cx="2286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AEB6CB"/>
                </a:solidFill>
                <a:latin typeface="Inter"/>
              </a:rPr>
              <a:t>Best value, deepest retention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24544" y="4882896"/>
            <a:ext cx="2542032" cy="932688"/>
          </a:xfrm>
          <a:prstGeom prst="roundRect">
            <a:avLst>
              <a:gd name="adj" fmla="val 10000"/>
            </a:avLst>
          </a:prstGeom>
          <a:solidFill>
            <a:srgbClr val="1B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89136" y="4983480"/>
            <a:ext cx="2286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Inter SemiBold"/>
              </a:rPr>
              <a:t>Add-ons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89136" y="5321808"/>
            <a:ext cx="2286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AEB6CB"/>
                </a:solidFill>
                <a:latin typeface="Inter"/>
              </a:rPr>
              <a:t>Extra usage sold on top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spc="200">
                <a:solidFill>
                  <a:srgbClr val="6A7288"/>
                </a:solidFill>
                <a:latin typeface="JetBrains Mono Medium"/>
              </a:rPr>
              <a:t>ZEUS CONSULTING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spc="120">
                <a:solidFill>
                  <a:srgbClr val="6A7288"/>
                </a:solidFill>
                <a:latin typeface="JetBrains Mono Medium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85216"/>
            <a:ext cx="201168" cy="12801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4984" y="548640"/>
            <a:ext cx="8229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260">
                <a:solidFill>
                  <a:srgbClr val="022EEB"/>
                </a:solidFill>
                <a:latin typeface="JetBrains Mono Medium"/>
              </a:rPr>
              <a:t>TENANCY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>
                <a:solidFill>
                  <a:srgbClr val="0B0F1E"/>
                </a:solidFill>
                <a:latin typeface="Space Grotesk"/>
              </a:rPr>
              <a:t>Isolation customers can trust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416052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22EEB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160520" cy="384048"/>
          </a:xfrm>
          <a:prstGeom prst="roundRect">
            <a:avLst>
              <a:gd name="adj" fmla="val 10000"/>
            </a:avLst>
          </a:prstGeom>
          <a:solidFill>
            <a:srgbClr val="EC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4160520" cy="201168"/>
          </a:xfrm>
          <a:prstGeom prst="rect">
            <a:avLst/>
          </a:prstGeom>
          <a:solidFill>
            <a:srgbClr val="EC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38528"/>
            <a:ext cx="38404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022EEB"/>
                </a:solidFill>
                <a:latin typeface="Inter SemiBold"/>
              </a:rPr>
              <a:t>Customer A  ·  own tenant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77440"/>
            <a:ext cx="38404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Own users, roles and data. Cannot see or reach any other tenant.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18688"/>
            <a:ext cx="416052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22EEB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218688"/>
            <a:ext cx="4160520" cy="384048"/>
          </a:xfrm>
          <a:prstGeom prst="roundRect">
            <a:avLst>
              <a:gd name="adj" fmla="val 10000"/>
            </a:avLst>
          </a:prstGeom>
          <a:solidFill>
            <a:srgbClr val="EC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401568"/>
            <a:ext cx="4160520" cy="201168"/>
          </a:xfrm>
          <a:prstGeom prst="rect">
            <a:avLst/>
          </a:prstGeom>
          <a:solidFill>
            <a:srgbClr val="EC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236976"/>
            <a:ext cx="38404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022EEB"/>
                </a:solidFill>
                <a:latin typeface="Inter SemiBold"/>
              </a:rPr>
              <a:t>Customer B  ·  own tenant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675888"/>
            <a:ext cx="38404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Own users, roles and data. Cannot see or reach any other tenant.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517136"/>
            <a:ext cx="416052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22EEB"/>
            </a:solidFill>
          </a:ln>
          <a:effectLst>
            <a:outerShdw blurRad="1270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517136"/>
            <a:ext cx="4160520" cy="384048"/>
          </a:xfrm>
          <a:prstGeom prst="roundRect">
            <a:avLst>
              <a:gd name="adj" fmla="val 10000"/>
            </a:avLst>
          </a:prstGeom>
          <a:solidFill>
            <a:srgbClr val="EC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700016"/>
            <a:ext cx="4160520" cy="201168"/>
          </a:xfrm>
          <a:prstGeom prst="rect">
            <a:avLst/>
          </a:prstGeom>
          <a:solidFill>
            <a:srgbClr val="EC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535424"/>
            <a:ext cx="38404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022EEB"/>
                </a:solidFill>
                <a:latin typeface="Inter SemiBold"/>
              </a:rPr>
              <a:t>Customer C  ·  own tenant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974336"/>
            <a:ext cx="38404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Own users, roles and data. Cannot see or reach any other tenant.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1783080"/>
            <a:ext cx="5943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0B0F1E"/>
                </a:solidFill>
                <a:latin typeface="Space Grotesk SemiBold"/>
              </a:rPr>
              <a:t>Four independent checks on every request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2304288"/>
            <a:ext cx="60350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143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0" y="248716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022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2404872"/>
            <a:ext cx="50292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0B0F1E"/>
                </a:solidFill>
                <a:latin typeface="Inter SemiBold"/>
              </a:rPr>
              <a:t>Gateway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715768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Rejects unpaid or wrong-tenant calls first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3218688"/>
            <a:ext cx="60350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143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0" y="340156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319272"/>
            <a:ext cx="50292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0B0F1E"/>
                </a:solidFill>
                <a:latin typeface="Inter SemiBold"/>
              </a:rPr>
              <a:t>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3630168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Re-verifies permission before doing 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4133088"/>
            <a:ext cx="60350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143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0" y="431596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Space Grotesk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4233672"/>
            <a:ext cx="50292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0B0F1E"/>
                </a:solidFill>
                <a:latin typeface="Inter SemiBold"/>
              </a:rPr>
              <a:t>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4544568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Row-level rules block foreign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5047488"/>
            <a:ext cx="60350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14300" dist="38100" dir="5400000" rotWithShape="0">
              <a:srgbClr val="0B0F1E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0" y="523036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Space Grotesk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5148072"/>
            <a:ext cx="50292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0B0F1E"/>
                </a:solidFill>
                <a:latin typeface="Inter SemiBold"/>
              </a:rPr>
              <a:t>Audit trail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5458968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Every sensitive action logged, append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spc="200">
                <a:solidFill>
                  <a:srgbClr val="6A7288"/>
                </a:solidFill>
                <a:latin typeface="JetBrains Mono Medium"/>
              </a:rPr>
              <a:t>ZEUS CONSULTING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spc="120">
                <a:solidFill>
                  <a:srgbClr val="6A7288"/>
                </a:solidFill>
                <a:latin typeface="JetBrains Mono Medium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85216"/>
            <a:ext cx="201168" cy="12801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4984" y="548640"/>
            <a:ext cx="8229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260">
                <a:solidFill>
                  <a:srgbClr val="022EEB"/>
                </a:solidFill>
                <a:latin typeface="JetBrains Mono Medium"/>
              </a:rPr>
              <a:t>TECHNOLOGY AND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>
                <a:solidFill>
                  <a:srgbClr val="0B0F1E"/>
                </a:solidFill>
                <a:latin typeface="Space Grotesk"/>
              </a:rPr>
              <a:t>Enterprise grade, zero fixed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0835640" cy="457200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0B0F1E"/>
              </a:gs>
              <a:gs pos="100000">
                <a:srgbClr val="12182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83080"/>
            <a:ext cx="29260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20">
                <a:solidFill>
                  <a:srgbClr val="FFFFFF"/>
                </a:solidFill>
                <a:latin typeface="JetBrains Mono Medium"/>
              </a:rPr>
              <a:t>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3048" y="1783080"/>
            <a:ext cx="25603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20">
                <a:solidFill>
                  <a:srgbClr val="FFFFFF"/>
                </a:solidFill>
                <a:latin typeface="JetBrains Mono Medium"/>
              </a:rPr>
              <a:t>CHOICE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1783080"/>
            <a:ext cx="16459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20">
                <a:solidFill>
                  <a:srgbClr val="FFFFFF"/>
                </a:solidFill>
                <a:latin typeface="JetBrains Mono Medium"/>
              </a:rPr>
              <a:t>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8" y="1783080"/>
            <a:ext cx="33832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20">
                <a:solidFill>
                  <a:srgbClr val="FFFFFF"/>
                </a:solidFill>
                <a:latin typeface="JetBrains Mono Medium"/>
              </a:rPr>
              <a:t>WHY IT WINS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49424"/>
            <a:ext cx="10835640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313432"/>
            <a:ext cx="29260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Frontend and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313432"/>
            <a:ext cx="256032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3C445C"/>
                </a:solidFill>
                <a:latin typeface="Inter Medium"/>
              </a:rPr>
              <a:t>Vercel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3368" y="236829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EF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050">
                <a:solidFill>
                  <a:srgbClr val="4F8A1F"/>
                </a:solidFill>
                <a:latin typeface="Inter Medium"/>
              </a:rP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313432"/>
            <a:ext cx="33832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Comfortable for our first hundred users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784348"/>
            <a:ext cx="10835640" cy="534924"/>
          </a:xfrm>
          <a:prstGeom prst="rect">
            <a:avLst/>
          </a:prstGeom>
          <a:solidFill>
            <a:srgbClr val="EF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2848356"/>
            <a:ext cx="29260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Database, auth,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2848356"/>
            <a:ext cx="256032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3C445C"/>
                </a:solidFill>
                <a:latin typeface="Inter Medium"/>
              </a:rPr>
              <a:t>Managed Postgres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3368" y="29032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EF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050">
                <a:solidFill>
                  <a:srgbClr val="4F8A1F"/>
                </a:solidFill>
                <a:latin typeface="Inter Medium"/>
              </a:rPr>
              <a:t>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848356"/>
            <a:ext cx="33832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Open source, portable, no lock-in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319272"/>
            <a:ext cx="10835640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383280"/>
            <a:ext cx="29260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Caching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3048" y="3383280"/>
            <a:ext cx="256032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3C445C"/>
                </a:solidFill>
                <a:latin typeface="Inter Medium"/>
              </a:rPr>
              <a:t>Redis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73368" y="343814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EF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050">
                <a:solidFill>
                  <a:srgbClr val="4F8A1F"/>
                </a:solidFill>
                <a:latin typeface="Inter Medium"/>
              </a:rPr>
              <a:t>Free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3383280"/>
            <a:ext cx="33832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Fast sessions and permission checks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854196"/>
            <a:ext cx="10835640" cy="534924"/>
          </a:xfrm>
          <a:prstGeom prst="rect">
            <a:avLst/>
          </a:prstGeom>
          <a:solidFill>
            <a:srgbClr val="EF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3918204"/>
            <a:ext cx="29260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Queue and eventing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3048" y="3918204"/>
            <a:ext cx="256032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3C445C"/>
                </a:solidFill>
                <a:latin typeface="Inter Medium"/>
              </a:rPr>
              <a:t>Managed queue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73368" y="397306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EF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050">
                <a:solidFill>
                  <a:srgbClr val="4F8A1F"/>
                </a:solidFill>
                <a:latin typeface="Inter Medium"/>
              </a:rPr>
              <a:t>Free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3918204"/>
            <a:ext cx="33832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Async work with no servers to run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389120"/>
            <a:ext cx="10835640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453128"/>
            <a:ext cx="29260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Billing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3048" y="4453128"/>
            <a:ext cx="256032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3C445C"/>
                </a:solidFill>
                <a:latin typeface="Inter Medium"/>
              </a:rPr>
              <a:t>Stripe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73368" y="45079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050">
                <a:solidFill>
                  <a:srgbClr val="9A6A00"/>
                </a:solidFill>
                <a:latin typeface="Inter Medium"/>
              </a:rPr>
              <a:t>Per txn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4453128"/>
            <a:ext cx="33832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No monthly platform fee at 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924044"/>
            <a:ext cx="10835640" cy="534924"/>
          </a:xfrm>
          <a:prstGeom prst="rect">
            <a:avLst/>
          </a:prstGeom>
          <a:solidFill>
            <a:srgbClr val="EF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4988052"/>
            <a:ext cx="29260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Observability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3048" y="4988052"/>
            <a:ext cx="256032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3C445C"/>
                </a:solidFill>
                <a:latin typeface="Inter Medium"/>
              </a:rPr>
              <a:t>Grafana Cloud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73368" y="50429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EF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050">
                <a:solidFill>
                  <a:srgbClr val="4F8A1F"/>
                </a:solidFill>
                <a:latin typeface="Inter Medium"/>
              </a:rPr>
              <a:t>Free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2168" y="4988052"/>
            <a:ext cx="33832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Logs, metrics and traces in one place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458968"/>
            <a:ext cx="10835640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" y="5522976"/>
            <a:ext cx="29260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0B0F1E"/>
                </a:solidFill>
                <a:latin typeface="Inter SemiBold"/>
              </a:rPr>
              <a:t>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3048" y="5522976"/>
            <a:ext cx="256032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3C445C"/>
                </a:solidFill>
                <a:latin typeface="Inter Medium"/>
              </a:rPr>
              <a:t>Pluggable provider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73368" y="55778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050">
                <a:solidFill>
                  <a:srgbClr val="9A6A00"/>
                </a:solidFill>
                <a:latin typeface="Inter Medium"/>
              </a:rPr>
              <a:t>Usage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2168" y="5522976"/>
            <a:ext cx="33832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The only variable cost we carry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5800" y="5993892"/>
            <a:ext cx="10835640" cy="0"/>
          </a:xfrm>
          <a:prstGeom prst="bentConnector3">
            <a:avLst/>
          </a:prstGeom>
          <a:ln w="12700">
            <a:solidFill>
              <a:srgbClr val="CED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spc="200">
                <a:solidFill>
                  <a:srgbClr val="6A7288"/>
                </a:solidFill>
                <a:latin typeface="JetBrains Mono Medium"/>
              </a:rPr>
              <a:t>ZEUS CONSULTING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spc="120">
                <a:solidFill>
                  <a:srgbClr val="6A7288"/>
                </a:solidFill>
                <a:latin typeface="JetBrains Mono Medium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585216"/>
            <a:ext cx="201168" cy="12801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4" y="548640"/>
            <a:ext cx="8229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260">
                <a:solidFill>
                  <a:srgbClr val="7AC43D"/>
                </a:solidFill>
                <a:latin typeface="JetBrains Mono Medium"/>
              </a:rPr>
              <a:t>CONTROL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>
                <a:solidFill>
                  <a:srgbClr val="FFFFFF"/>
                </a:solidFill>
                <a:latin typeface="Space Grotesk"/>
              </a:rPr>
              <a:t>One dashboard to run the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3429000" cy="1627632"/>
          </a:xfrm>
          <a:prstGeom prst="roundRect">
            <a:avLst>
              <a:gd name="adj" fmla="val 9000"/>
            </a:avLst>
          </a:prstGeom>
          <a:solidFill>
            <a:srgbClr val="12182E"/>
          </a:solidFill>
          <a:ln w="12700">
            <a:solidFill>
              <a:srgbClr val="28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0704" y="22037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0B0F1E"/>
                </a:solidFill>
                <a:latin typeface="JetBrains Mono Medium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03704"/>
            <a:ext cx="2514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FFFFFF"/>
                </a:solidFill>
                <a:latin typeface="Space Grotesk SemiBold"/>
              </a:rPr>
              <a:t>AI keys and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43784"/>
            <a:ext cx="29260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B2BACF"/>
                </a:solidFill>
                <a:latin typeface="Inter"/>
              </a:rPr>
              <a:t>Swap providers or keys with no code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965960"/>
            <a:ext cx="3429000" cy="1627632"/>
          </a:xfrm>
          <a:prstGeom prst="roundRect">
            <a:avLst>
              <a:gd name="adj" fmla="val 9000"/>
            </a:avLst>
          </a:prstGeom>
          <a:solidFill>
            <a:srgbClr val="12182E"/>
          </a:solidFill>
          <a:ln w="12700">
            <a:solidFill>
              <a:srgbClr val="28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22037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0B0F1E"/>
                </a:solidFill>
                <a:latin typeface="JetBrains Mono Medium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656" y="2203704"/>
            <a:ext cx="2514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FFFFFF"/>
                </a:solidFill>
                <a:latin typeface="Space Grotesk SemiBold"/>
              </a:rPr>
              <a:t>Prompt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843784"/>
            <a:ext cx="29260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B2BACF"/>
                </a:solidFill>
                <a:latin typeface="Inter"/>
              </a:rPr>
              <a:t>Edit and version the AI instructions live.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1965960"/>
            <a:ext cx="3429000" cy="1627632"/>
          </a:xfrm>
          <a:prstGeom prst="roundRect">
            <a:avLst>
              <a:gd name="adj" fmla="val 9000"/>
            </a:avLst>
          </a:prstGeom>
          <a:solidFill>
            <a:srgbClr val="12182E"/>
          </a:solidFill>
          <a:ln w="12700">
            <a:solidFill>
              <a:srgbClr val="28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66176" y="22037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0B0F1E"/>
                </a:solidFill>
                <a:latin typeface="JetBrains Mono Medium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2203704"/>
            <a:ext cx="2514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FFFFFF"/>
                </a:solidFill>
                <a:latin typeface="Space Grotesk SemiBold"/>
              </a:rPr>
              <a:t>Plans and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843784"/>
            <a:ext cx="29260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B2BACF"/>
                </a:solidFill>
                <a:latin typeface="Inter"/>
              </a:rPr>
              <a:t>Change what each service costs and includes.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13048"/>
            <a:ext cx="3429000" cy="1627632"/>
          </a:xfrm>
          <a:prstGeom prst="roundRect">
            <a:avLst>
              <a:gd name="adj" fmla="val 9000"/>
            </a:avLst>
          </a:prstGeom>
          <a:solidFill>
            <a:srgbClr val="12182E"/>
          </a:solidFill>
          <a:ln w="12700">
            <a:solidFill>
              <a:srgbClr val="28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0704" y="40507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0B0F1E"/>
                </a:solidFill>
                <a:latin typeface="JetBrains Mono Medium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050792"/>
            <a:ext cx="2514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FFFFFF"/>
                </a:solidFill>
                <a:latin typeface="Space Grotesk SemiBold"/>
              </a:rPr>
              <a:t>Tenant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90872"/>
            <a:ext cx="29260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B2BACF"/>
                </a:solidFill>
                <a:latin typeface="Inter"/>
              </a:rPr>
              <a:t>See customers, adjust access, resolve issues.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3813048"/>
            <a:ext cx="3429000" cy="1627632"/>
          </a:xfrm>
          <a:prstGeom prst="roundRect">
            <a:avLst>
              <a:gd name="adj" fmla="val 9000"/>
            </a:avLst>
          </a:prstGeom>
          <a:solidFill>
            <a:srgbClr val="12182E"/>
          </a:solidFill>
          <a:ln w="12700">
            <a:solidFill>
              <a:srgbClr val="28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63440" y="40507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0B0F1E"/>
                </a:solidFill>
                <a:latin typeface="JetBrains Mono Medium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6" y="4050792"/>
            <a:ext cx="2514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FFFFFF"/>
                </a:solidFill>
                <a:latin typeface="Space Grotesk SemiBold"/>
              </a:rPr>
              <a:t>Feature switches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4690872"/>
            <a:ext cx="29260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B2BACF"/>
                </a:solidFill>
                <a:latin typeface="Inter"/>
              </a:rPr>
              <a:t>Turn capabilities on or off instantly.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2" y="3813048"/>
            <a:ext cx="3429000" cy="1627632"/>
          </a:xfrm>
          <a:prstGeom prst="roundRect">
            <a:avLst>
              <a:gd name="adj" fmla="val 9000"/>
            </a:avLst>
          </a:prstGeom>
          <a:solidFill>
            <a:srgbClr val="12182E"/>
          </a:solidFill>
          <a:ln w="12700">
            <a:solidFill>
              <a:srgbClr val="28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66176" y="40507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0B0F1E"/>
                </a:solidFill>
                <a:latin typeface="JetBrains Mono Medium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4050792"/>
            <a:ext cx="2514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FFFFFF"/>
                </a:solidFill>
                <a:latin typeface="Space Grotesk SemiBold"/>
              </a:rPr>
              <a:t>Health and usage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690872"/>
            <a:ext cx="29260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B2BACF"/>
                </a:solidFill>
                <a:latin typeface="Inter"/>
              </a:rPr>
              <a:t>Cost, activity and errors at a glance.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3387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ADC5E"/>
                </a:solidFill>
                <a:latin typeface="Inter Medium"/>
              </a:rPr>
              <a:t>This is where the weak AI gets fixed — prompts and models tuned live, no release needed.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spc="120">
                <a:solidFill>
                  <a:srgbClr val="979FB3"/>
                </a:solidFill>
                <a:latin typeface="JetBrains Mono Medium"/>
              </a:rPr>
              <a:t>10 / 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spc="200">
                <a:solidFill>
                  <a:srgbClr val="979FB3"/>
                </a:solidFill>
                <a:latin typeface="JetBrains Mono Medium"/>
              </a:rPr>
              <a:t>ZEUS CONSULTING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85216"/>
            <a:ext cx="201168" cy="12801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4984" y="548640"/>
            <a:ext cx="8229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260">
                <a:solidFill>
                  <a:srgbClr val="022EEB"/>
                </a:solidFill>
                <a:latin typeface="JetBrains Mono Medium"/>
              </a:rPr>
              <a:t>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>
                <a:solidFill>
                  <a:srgbClr val="0B0F1E"/>
                </a:solidFill>
                <a:latin typeface="Space Grotesk"/>
              </a:rPr>
              <a:t>A phased rollout, no big bang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2331720"/>
            <a:ext cx="10378440" cy="0"/>
          </a:xfrm>
          <a:prstGeom prst="bentConnector3">
            <a:avLst/>
          </a:prstGeom>
          <a:ln w="31750">
            <a:solidFill>
              <a:srgbClr val="CED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103120" y="2203704"/>
            <a:ext cx="256032" cy="256032"/>
          </a:xfrm>
          <a:prstGeom prst="ellipse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85416" y="228600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724912"/>
            <a:ext cx="254203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52400" dist="50800" dir="5400000" rotWithShape="0">
              <a:srgbClr val="0B0F1E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724912"/>
            <a:ext cx="2542032" cy="804672"/>
          </a:xfrm>
          <a:prstGeom prst="roundRect">
            <a:avLst>
              <a:gd name="adj" fmla="val 8000"/>
            </a:avLst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3200400"/>
            <a:ext cx="2542032" cy="329184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798064"/>
            <a:ext cx="2176272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spc="160">
                <a:solidFill>
                  <a:srgbClr val="FFFFFF"/>
                </a:solidFill>
                <a:latin typeface="JetBrains Mono Medium"/>
              </a:rPr>
              <a:t>PHASE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27248"/>
            <a:ext cx="2176272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Space Grotesk SemiBold"/>
              </a:rPr>
              <a:t>Weeks 1–2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39312"/>
            <a:ext cx="217627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0B0F1E"/>
                </a:solidFill>
                <a:latin typeface="Inter SemiBold"/>
              </a:rPr>
              <a:t>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114800"/>
            <a:ext cx="2176272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Stand up the monorepo, remove the vendor lock-ins, provision the free tiers.</a:t>
            </a:r>
          </a:p>
        </p:txBody>
      </p:sp>
      <p:sp>
        <p:nvSpPr>
          <p:cNvPr id="16" name="Oval 15"/>
          <p:cNvSpPr/>
          <p:nvPr/>
        </p:nvSpPr>
        <p:spPr>
          <a:xfrm>
            <a:off x="4764024" y="2203704"/>
            <a:ext cx="256032" cy="256032"/>
          </a:xfrm>
          <a:prstGeom prst="ellipse">
            <a:avLst/>
          </a:prstGeom>
          <a:solidFill>
            <a:srgbClr val="022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46320" y="228600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21024" y="2724912"/>
            <a:ext cx="254203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52400" dist="50800" dir="5400000" rotWithShape="0">
              <a:srgbClr val="0B0F1E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21024" y="2724912"/>
            <a:ext cx="2542032" cy="804672"/>
          </a:xfrm>
          <a:prstGeom prst="roundRect">
            <a:avLst>
              <a:gd name="adj" fmla="val 8000"/>
            </a:avLst>
          </a:prstGeom>
          <a:solidFill>
            <a:srgbClr val="022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21024" y="3200400"/>
            <a:ext cx="2542032" cy="329184"/>
          </a:xfrm>
          <a:prstGeom prst="rect">
            <a:avLst/>
          </a:prstGeom>
          <a:solidFill>
            <a:srgbClr val="022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3904" y="2798064"/>
            <a:ext cx="2176272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spc="160">
                <a:solidFill>
                  <a:srgbClr val="FFFFFF"/>
                </a:solidFill>
                <a:latin typeface="JetBrains Mono Medium"/>
              </a:rPr>
              <a:t>PHASE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3127248"/>
            <a:ext cx="2176272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Space Grotesk SemiBold"/>
              </a:rPr>
              <a:t>Weeks 3–5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3904" y="3639312"/>
            <a:ext cx="217627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0B0F1E"/>
                </a:solidFill>
                <a:latin typeface="Inter SemiBold"/>
              </a:rPr>
              <a:t>Platform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3904" y="4114800"/>
            <a:ext cx="2176272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Tenants, billing, permissions, gateway, caching and the queue.</a:t>
            </a:r>
          </a:p>
        </p:txBody>
      </p:sp>
      <p:sp>
        <p:nvSpPr>
          <p:cNvPr id="25" name="Oval 24"/>
          <p:cNvSpPr/>
          <p:nvPr/>
        </p:nvSpPr>
        <p:spPr>
          <a:xfrm>
            <a:off x="7424928" y="2203704"/>
            <a:ext cx="256032" cy="256032"/>
          </a:xfrm>
          <a:prstGeom prst="ellipse">
            <a:avLst/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07224" y="228600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81928" y="2724912"/>
            <a:ext cx="254203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52400" dist="50800" dir="5400000" rotWithShape="0">
              <a:srgbClr val="0B0F1E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1928" y="2724912"/>
            <a:ext cx="2542032" cy="804672"/>
          </a:xfrm>
          <a:prstGeom prst="roundRect">
            <a:avLst>
              <a:gd name="adj" fmla="val 8000"/>
            </a:avLst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1928" y="3200400"/>
            <a:ext cx="2542032" cy="329184"/>
          </a:xfrm>
          <a:prstGeom prst="rect">
            <a:avLst/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2798064"/>
            <a:ext cx="2176272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spc="160">
                <a:solidFill>
                  <a:srgbClr val="FFFFFF"/>
                </a:solidFill>
                <a:latin typeface="JetBrains Mono Medium"/>
              </a:rPr>
              <a:t>PHASE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127248"/>
            <a:ext cx="2176272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Space Grotesk SemiBold"/>
              </a:rPr>
              <a:t>Weeks 6–10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3639312"/>
            <a:ext cx="217627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0B0F1E"/>
                </a:solidFill>
                <a:latin typeface="Inter SemiBold"/>
              </a:rPr>
              <a:t>Move the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4114800"/>
            <a:ext cx="2176272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Migrate the three services one at a time. Rebuild the AI properly.</a:t>
            </a:r>
          </a:p>
        </p:txBody>
      </p:sp>
      <p:sp>
        <p:nvSpPr>
          <p:cNvPr id="34" name="Oval 33"/>
          <p:cNvSpPr/>
          <p:nvPr/>
        </p:nvSpPr>
        <p:spPr>
          <a:xfrm>
            <a:off x="10085832" y="2203704"/>
            <a:ext cx="256032" cy="256032"/>
          </a:xfrm>
          <a:prstGeom prst="ellipse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68128" y="228600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42832" y="2724912"/>
            <a:ext cx="254203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F0"/>
            </a:solidFill>
          </a:ln>
          <a:effectLst>
            <a:outerShdw blurRad="152400" dist="50800" dir="5400000" rotWithShape="0">
              <a:srgbClr val="0B0F1E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42832" y="2724912"/>
            <a:ext cx="2542032" cy="804672"/>
          </a:xfrm>
          <a:prstGeom prst="roundRect">
            <a:avLst>
              <a:gd name="adj" fmla="val 8000"/>
            </a:avLst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42832" y="3200400"/>
            <a:ext cx="2542032" cy="329184"/>
          </a:xfrm>
          <a:prstGeom prst="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25712" y="2798064"/>
            <a:ext cx="2176272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spc="160">
                <a:solidFill>
                  <a:srgbClr val="FFFFFF"/>
                </a:solidFill>
                <a:latin typeface="JetBrains Mono Medium"/>
              </a:rPr>
              <a:t>PHASE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127248"/>
            <a:ext cx="2176272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Space Grotesk SemiBold"/>
              </a:rPr>
              <a:t>Weeks 11–12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639312"/>
            <a:ext cx="217627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0B0F1E"/>
                </a:solidFill>
                <a:latin typeface="Inter SemiBold"/>
              </a:rPr>
              <a:t>Launch 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14800"/>
            <a:ext cx="2176272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6A7288"/>
                </a:solidFill>
                <a:latin typeface="Inter"/>
              </a:rPr>
              <a:t>Marketing funnel, ads tracking, dashboards, load test, sign-off.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53212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3C445C"/>
                </a:solidFill>
                <a:latin typeface="Inter Medium"/>
              </a:rPr>
              <a:t>Each phase ships something usable. We can pause or reprioritize at any boundary.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spc="200">
                <a:solidFill>
                  <a:srgbClr val="6A7288"/>
                </a:solidFill>
                <a:latin typeface="JetBrains Mono Medium"/>
              </a:rPr>
              <a:t>ZEUS CONSULTING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9284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spc="120">
                <a:solidFill>
                  <a:srgbClr val="6A7288"/>
                </a:solidFill>
                <a:latin typeface="JetBrains Mono Medium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85216"/>
            <a:ext cx="201168" cy="12801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4984" y="548640"/>
            <a:ext cx="8229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260">
                <a:solidFill>
                  <a:srgbClr val="022EEB"/>
                </a:solidFill>
                <a:latin typeface="JetBrains Mono Medium"/>
              </a:rPr>
              <a:t>GO TO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>
                <a:solidFill>
                  <a:srgbClr val="0B0F1E"/>
                </a:solidFill>
                <a:latin typeface="Space Grotesk"/>
              </a:rPr>
              <a:t>Built to run paid acquisition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6035040" cy="658368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022EEB"/>
              </a:gs>
              <a:gs pos="100000">
                <a:srgbClr val="03146E"/>
              </a:gs>
            </a:gsLst>
            <a:lin ang="0" scaled="1"/>
          </a:gra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Inter SemiBold"/>
              </a:rPr>
              <a:t>Ad click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798064"/>
            <a:ext cx="5120640" cy="658368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022EEB"/>
              </a:gs>
              <a:gs pos="100000">
                <a:srgbClr val="03146E"/>
              </a:gs>
            </a:gsLst>
            <a:lin ang="0" scaled="1"/>
          </a:gra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Inter SemiBold"/>
              </a:rPr>
              <a:t>Landing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3584448"/>
            <a:ext cx="4206240" cy="658368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7AC43D"/>
              </a:gs>
              <a:gs pos="100000">
                <a:srgbClr val="4F8A1F"/>
              </a:gs>
            </a:gsLst>
            <a:lin ang="0" scaled="1"/>
          </a:gra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Inter SemiBold"/>
              </a:rPr>
              <a:t>Sign 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4370832"/>
            <a:ext cx="3291840" cy="658368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7AC43D"/>
              </a:gs>
              <a:gs pos="100000">
                <a:srgbClr val="4F8A1F"/>
              </a:gs>
            </a:gsLst>
            <a:lin ang="0" scaled="1"/>
          </a:gra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Inter SemiBold"/>
              </a:rPr>
              <a:t>Checkout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5157216"/>
            <a:ext cx="2377440" cy="658368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0B0F1E"/>
              </a:gs>
              <a:gs pos="100000">
                <a:srgbClr val="12182E"/>
              </a:gs>
            </a:gsLst>
            <a:lin ang="0" scaled="1"/>
          </a:gradFill>
          <a:ln>
            <a:noFill/>
          </a:ln>
          <a:effectLst>
            <a:outerShdw blurRad="101600" dist="38100" dir="5400000" rotWithShape="0">
              <a:srgbClr val="0B0F1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Inter SemiBold"/>
              </a:rPr>
              <a:t>Active 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783080"/>
            <a:ext cx="4206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0B0F1E"/>
                </a:solidFill>
                <a:latin typeface="Space Grotesk SemiBold"/>
              </a:rPr>
              <a:t>Everything ads need, in 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28600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EEF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500">
                <a:solidFill>
                  <a:srgbClr val="4F8A1F"/>
                </a:solidFill>
                <a:latin typeface="Space Grotesk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2304288"/>
            <a:ext cx="374903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3C445C"/>
                </a:solidFill>
                <a:latin typeface="Inter Medium"/>
              </a:rPr>
              <a:t>Fast landing pages tuned per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52928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EEF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500">
                <a:solidFill>
                  <a:srgbClr val="4F8A1F"/>
                </a:solidFill>
                <a:latin typeface="Space Grotesk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2871216"/>
            <a:ext cx="374903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3C445C"/>
                </a:solidFill>
                <a:latin typeface="Inter Medium"/>
              </a:rPr>
              <a:t>Clear pricing and a frictionless trial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3419856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EEF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500">
                <a:solidFill>
                  <a:srgbClr val="4F8A1F"/>
                </a:solidFill>
                <a:latin typeface="Space Grotesk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438144"/>
            <a:ext cx="374903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3C445C"/>
                </a:solidFill>
                <a:latin typeface="Inter Medium"/>
              </a:rPr>
              <a:t>Self-serve signup with instant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3986784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EEF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500">
                <a:solidFill>
                  <a:srgbClr val="4F8A1F"/>
                </a:solidFill>
                <a:latin typeface="Space Grotesk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4005072"/>
            <a:ext cx="374903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3C445C"/>
                </a:solidFill>
                <a:latin typeface="Inter Medium"/>
              </a:rPr>
              <a:t>Accurate conversion tracking for Google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4553712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EEF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500">
                <a:solidFill>
                  <a:srgbClr val="4F8A1F"/>
                </a:solidFill>
                <a:latin typeface="Space Grotesk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4572000"/>
            <a:ext cx="374903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3C445C"/>
                </a:solidFill>
                <a:latin typeface="Inter Medium"/>
              </a:rPr>
              <a:t>Search-friendly pages for organic reach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51206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EEF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500">
                <a:solidFill>
                  <a:srgbClr val="4F8A1F"/>
                </a:solidFill>
                <a:latin typeface="Space Grotesk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5138928"/>
            <a:ext cx="374903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3C445C"/>
                </a:solidFill>
                <a:latin typeface="Inter Medium"/>
              </a:rPr>
              <a:t>Analytics to see what each ad returns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spc="200">
                <a:solidFill>
                  <a:srgbClr val="6A7288"/>
                </a:solidFill>
                <a:latin typeface="JetBrains Mono Medium"/>
              </a:rPr>
              <a:t>ZEUS CONSULTING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spc="120">
                <a:solidFill>
                  <a:srgbClr val="6A7288"/>
                </a:solidFill>
                <a:latin typeface="JetBrains Mono Medium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gradFill>
            <a:gsLst>
              <a:gs pos="0">
                <a:srgbClr val="03146E"/>
              </a:gs>
              <a:gs pos="100000">
                <a:srgbClr val="0B0F1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6400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7A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400">
                <a:solidFill>
                  <a:srgbClr val="0B0F1E"/>
                </a:solidFill>
                <a:latin typeface="Space Grotesk"/>
              </a:rPr>
              <a:t>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76656"/>
            <a:ext cx="45720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spc="180">
                <a:solidFill>
                  <a:srgbClr val="FFFFFF"/>
                </a:solidFill>
                <a:latin typeface="Space Grotesk SemiBold"/>
              </a:rPr>
              <a:t>ZEUS CONSULTING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spc="300">
                <a:solidFill>
                  <a:srgbClr val="7AC43D"/>
                </a:solidFill>
                <a:latin typeface="JetBrains Mono Medium"/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09728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>
                <a:solidFill>
                  <a:srgbClr val="FFFFFF"/>
                </a:solidFill>
                <a:latin typeface="Space Grotesk"/>
              </a:rPr>
              <a:t>Approve the platform rebuild.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94760"/>
            <a:ext cx="1060704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>
                <a:solidFill>
                  <a:srgbClr val="C2C9DD"/>
                </a:solidFill>
                <a:latin typeface="Inter"/>
              </a:rPr>
              <a:t>We turn one fragile product into a platform of services we can sell, price and scale independently — removing the dependency we don't control, and running at zero fixed cost while we grow.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257800"/>
            <a:ext cx="3401568" cy="786384"/>
          </a:xfrm>
          <a:prstGeom prst="roundRect">
            <a:avLst>
              <a:gd name="adj" fmla="val 16000"/>
            </a:avLst>
          </a:prstGeom>
          <a:solidFill>
            <a:srgbClr val="12182E"/>
          </a:solidFill>
          <a:ln w="19050">
            <a:solidFill>
              <a:srgbClr val="7AC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450">
                <a:solidFill>
                  <a:srgbClr val="7AC43D"/>
                </a:solidFill>
                <a:latin typeface="Inter SemiBold"/>
              </a:rPr>
              <a:t>Start with Phase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5257800"/>
            <a:ext cx="3401568" cy="786384"/>
          </a:xfrm>
          <a:prstGeom prst="roundRect">
            <a:avLst>
              <a:gd name="adj" fmla="val 16000"/>
            </a:avLst>
          </a:prstGeom>
          <a:solidFill>
            <a:srgbClr val="12182E"/>
          </a:solidFill>
          <a:ln w="19050">
            <a:solidFill>
              <a:srgbClr val="3B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450">
                <a:solidFill>
                  <a:srgbClr val="3B63FF"/>
                </a:solidFill>
                <a:latin typeface="Inter SemiBold"/>
              </a:rPr>
              <a:t>A twelve-week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7848" y="5257800"/>
            <a:ext cx="3401568" cy="786384"/>
          </a:xfrm>
          <a:prstGeom prst="roundRect">
            <a:avLst>
              <a:gd name="adj" fmla="val 16000"/>
            </a:avLst>
          </a:prstGeom>
          <a:solidFill>
            <a:srgbClr val="1218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450">
                <a:solidFill>
                  <a:srgbClr val="FFFFFF"/>
                </a:solidFill>
                <a:latin typeface="Inter SemiBold"/>
              </a:rPr>
              <a:t>Zero fixed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spc="120">
                <a:solidFill>
                  <a:srgbClr val="979FB3"/>
                </a:solidFill>
                <a:latin typeface="JetBrains Mono Medium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